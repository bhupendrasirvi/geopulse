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777240"/>
            <a:ext cx="137160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51560"/>
            <a:ext cx="10698480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Segoe UI"/>
              </a:defRPr>
            </a:pPr>
            <a:r>
              <a:t>ACADEMIC CAPSTONE PROJECT • COMPUTER SCIENCE &amp; ENGINEERING</a:t>
            </a:r>
          </a:p>
          <a:p>
            <a:pPr>
              <a:spcBef>
                <a:spcPts val="800"/>
              </a:spcBef>
              <a:defRPr sz="5400" b="1">
                <a:solidFill>
                  <a:srgbClr val="FFFFFF"/>
                </a:solidFill>
                <a:latin typeface="Segoe UI"/>
              </a:defRPr>
            </a:pPr>
            <a:r>
              <a:t>GeoPulse</a:t>
            </a:r>
          </a:p>
          <a:p>
            <a:pPr>
              <a:spcBef>
                <a:spcPts val="400"/>
              </a:spcBef>
              <a:defRPr sz="2000" b="1">
                <a:solidFill>
                  <a:srgbClr val="38BDF8"/>
                </a:solidFill>
                <a:latin typeface="Segoe UI"/>
              </a:defRPr>
            </a:pPr>
            <a:r>
              <a:t>Real-Time Hyperlocal Disaster Relief &amp; Emergency Resource Dispatch Platform</a:t>
            </a:r>
          </a:p>
          <a:p>
            <a:pPr>
              <a:spcBef>
                <a:spcPts val="400"/>
              </a:spcBef>
              <a:defRPr sz="1400">
                <a:solidFill>
                  <a:srgbClr val="CBD5E1"/>
                </a:solidFill>
                <a:latin typeface="Segoe UI"/>
              </a:defRPr>
            </a:pPr>
            <a:r>
              <a:t>Solving critical first-hour disaster dispatch latency using pure MongoDB geospatial streams.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4297680"/>
            <a:ext cx="3328416" cy="19202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60120" y="4526280"/>
            <a:ext cx="457200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4645152"/>
            <a:ext cx="2871216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Segoe UI"/>
              </a:defRPr>
            </a:pPr>
            <a:r>
              <a:t>PURE MONGODB ENGINE</a:t>
            </a:r>
          </a:p>
          <a:p>
            <a:pPr>
              <a:spcBef>
                <a:spcPts val="200"/>
              </a:spcBef>
              <a:defRPr sz="1300" b="1">
                <a:solidFill>
                  <a:srgbClr val="FFFFFF"/>
                </a:solidFill>
                <a:latin typeface="Segoe UI"/>
              </a:defRPr>
            </a:pPr>
            <a:r>
              <a:t>Native Geospatial &amp; Streams</a:t>
            </a:r>
          </a:p>
          <a:p>
            <a:pPr>
              <a:spcBef>
                <a:spcPts val="400"/>
              </a:spcBef>
              <a:defRPr sz="1050">
                <a:solidFill>
                  <a:srgbClr val="CBD5E1"/>
                </a:solidFill>
                <a:latin typeface="Segoe UI"/>
              </a:defRPr>
            </a:pPr>
            <a:r>
              <a:t>Runs 2dsphere indexing and reactive Change Streams directly without Redis, Kafka, or external message brokers.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07408" y="4297680"/>
            <a:ext cx="3328416" cy="19202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636008" y="4526280"/>
            <a:ext cx="457200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36008" y="4645152"/>
            <a:ext cx="2871216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SUB-100MS ALLOCATION</a:t>
            </a:r>
          </a:p>
          <a:p>
            <a:pPr>
              <a:spcBef>
                <a:spcPts val="200"/>
              </a:spcBef>
              <a:defRPr sz="1300" b="1">
                <a:solidFill>
                  <a:srgbClr val="FFFFFF"/>
                </a:solidFill>
                <a:latin typeface="Segoe UI"/>
              </a:defRPr>
            </a:pPr>
            <a:r>
              <a:t>Hyperlocal Proximity Matching</a:t>
            </a:r>
          </a:p>
          <a:p>
            <a:pPr>
              <a:spcBef>
                <a:spcPts val="400"/>
              </a:spcBef>
              <a:defRPr sz="1050">
                <a:solidFill>
                  <a:srgbClr val="CBD5E1"/>
                </a:solidFill>
                <a:latin typeface="Segoe UI"/>
              </a:defRPr>
            </a:pPr>
            <a:r>
              <a:t>Performs spherical distance computations natively to match distress beacons to closest relief shelters &amp; volunteers.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83296" y="4297680"/>
            <a:ext cx="3328416" cy="19202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311896" y="4526280"/>
            <a:ext cx="457200" cy="36576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11896" y="4645152"/>
            <a:ext cx="2871216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FBBF24"/>
                </a:solidFill>
                <a:latin typeface="Segoe UI"/>
              </a:defRPr>
            </a:pPr>
            <a:r>
              <a:t>INTERACTIVE COMMAND UI</a:t>
            </a:r>
          </a:p>
          <a:p>
            <a:pPr>
              <a:spcBef>
                <a:spcPts val="200"/>
              </a:spcBef>
              <a:defRPr sz="1300" b="1">
                <a:solidFill>
                  <a:srgbClr val="FFFFFF"/>
                </a:solidFill>
                <a:latin typeface="Segoe UI"/>
              </a:defRPr>
            </a:pPr>
            <a:r>
              <a:t>Live Crisis Mapping Console</a:t>
            </a:r>
          </a:p>
          <a:p>
            <a:pPr>
              <a:spcBef>
                <a:spcPts val="400"/>
              </a:spcBef>
              <a:defRPr sz="1050">
                <a:solidFill>
                  <a:srgbClr val="CBD5E1"/>
                </a:solidFill>
                <a:latin typeface="Segoe UI"/>
              </a:defRPr>
            </a:pPr>
            <a:r>
              <a:t>Built with Next.js &amp; Mapbox GL for zero-lag incident triage, live dispatch routes, and real-time casualty heatmaps.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Segoe UI"/>
              </a:defRPr>
            </a:pPr>
            <a:r>
              <a:t>01 / CONTEXT &amp; NEED</a:t>
            </a:r>
          </a:p>
          <a:p>
            <a:pPr>
              <a:spcBef>
                <a:spcPts val="400"/>
              </a:spcBef>
              <a:defRPr sz="2400" b="1">
                <a:solidFill>
                  <a:srgbClr val="FFFFFF"/>
                </a:solidFill>
                <a:latin typeface="Segoe UI"/>
              </a:defRPr>
            </a:pPr>
            <a:r>
              <a:t>The Disaster Relief Latency &amp; Coordination Gap</a:t>
            </a:r>
          </a:p>
          <a:p>
            <a:pPr>
              <a:spcBef>
                <a:spcPts val="200"/>
              </a:spcBef>
              <a:defRPr sz="1200">
                <a:solidFill>
                  <a:srgbClr val="CBD5E1"/>
                </a:solidFill>
                <a:latin typeface="Segoe UI"/>
              </a:defRPr>
            </a:pPr>
            <a:r>
              <a:t>When natural disasters hit, communication breakdowns cause the catastrophic loss of the 'Golden Hour'.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874519"/>
            <a:ext cx="3328416" cy="3520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103119"/>
            <a:ext cx="2871216" cy="3154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0B981"/>
                </a:solidFill>
                <a:latin typeface="Segoe UI"/>
              </a:defRPr>
            </a:pPr>
            <a:r>
              <a:t>01</a:t>
            </a:r>
          </a:p>
          <a:p>
            <a:pPr>
              <a:spcBef>
                <a:spcPts val="400"/>
              </a:spcBef>
              <a:defRPr sz="1400" b="1">
                <a:solidFill>
                  <a:srgbClr val="FFFFFF"/>
                </a:solidFill>
                <a:latin typeface="Segoe UI"/>
              </a:defRPr>
            </a:pPr>
            <a:r>
              <a:t>Information Bottlenecks</a:t>
            </a:r>
          </a:p>
          <a:p>
            <a:pPr>
              <a:spcBef>
                <a:spcPts val="600"/>
              </a:spcBef>
              <a:defRPr sz="1050">
                <a:solidFill>
                  <a:srgbClr val="CBD5E1"/>
                </a:solidFill>
                <a:latin typeface="Segoe UI"/>
              </a:defRPr>
            </a:pPr>
            <a:r>
              <a:t>Emergency distress calls arrive scattered across phone hotlines, SMS, and social media without standard coordinates or structured medical triage.</a:t>
            </a:r>
          </a:p>
          <a:p>
            <a:pPr>
              <a:spcBef>
                <a:spcPts val="800"/>
              </a:spcBef>
              <a:defRPr sz="1000" b="1">
                <a:solidFill>
                  <a:srgbClr val="FBBF24"/>
                </a:solidFill>
                <a:latin typeface="Segoe UI"/>
              </a:defRPr>
            </a:pPr>
            <a:r>
              <a:t>Impact: Duplicate requests overwhelm call centers while isolated victims are left unattended.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07408" y="1874519"/>
            <a:ext cx="3328416" cy="3520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36008" y="2103119"/>
            <a:ext cx="2871216" cy="3154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38BDF8"/>
                </a:solidFill>
                <a:latin typeface="Segoe UI"/>
              </a:defRPr>
            </a:pPr>
            <a:r>
              <a:t>02</a:t>
            </a:r>
          </a:p>
          <a:p>
            <a:pPr>
              <a:spcBef>
                <a:spcPts val="400"/>
              </a:spcBef>
              <a:defRPr sz="1400" b="1">
                <a:solidFill>
                  <a:srgbClr val="FFFFFF"/>
                </a:solidFill>
                <a:latin typeface="Segoe UI"/>
              </a:defRPr>
            </a:pPr>
            <a:r>
              <a:t>Inefficient Asset Dispatch</a:t>
            </a:r>
          </a:p>
          <a:p>
            <a:pPr>
              <a:spcBef>
                <a:spcPts val="600"/>
              </a:spcBef>
              <a:defRPr sz="1050">
                <a:solidFill>
                  <a:srgbClr val="CBD5E1"/>
                </a:solidFill>
                <a:latin typeface="Segoe UI"/>
              </a:defRPr>
            </a:pPr>
            <a:r>
              <a:t>Responders are assigned based on arrival sequence rather than spatial proximity, causing volunteers to travel across town while closer teams exist.</a:t>
            </a:r>
          </a:p>
          <a:p>
            <a:pPr>
              <a:spcBef>
                <a:spcPts val="800"/>
              </a:spcBef>
              <a:defRPr sz="1000" b="1">
                <a:solidFill>
                  <a:srgbClr val="FBBF24"/>
                </a:solidFill>
                <a:latin typeface="Segoe UI"/>
              </a:defRPr>
            </a:pPr>
            <a:r>
              <a:t>Impact: Critical supplies (boats, medicine) sit idle while neighboring zones starve.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83296" y="1874519"/>
            <a:ext cx="3328416" cy="3520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11896" y="2103119"/>
            <a:ext cx="2871216" cy="3154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BBF24"/>
                </a:solidFill>
                <a:latin typeface="Segoe UI"/>
              </a:defRPr>
            </a:pPr>
            <a:r>
              <a:t>03</a:t>
            </a:r>
          </a:p>
          <a:p>
            <a:pPr>
              <a:spcBef>
                <a:spcPts val="400"/>
              </a:spcBef>
              <a:defRPr sz="1400" b="1">
                <a:solidFill>
                  <a:srgbClr val="FFFFFF"/>
                </a:solidFill>
                <a:latin typeface="Segoe UI"/>
              </a:defRPr>
            </a:pPr>
            <a:r>
              <a:t>Database Scalability Limits</a:t>
            </a:r>
          </a:p>
          <a:p>
            <a:pPr>
              <a:spcBef>
                <a:spcPts val="600"/>
              </a:spcBef>
              <a:defRPr sz="1050">
                <a:solidFill>
                  <a:srgbClr val="CBD5E1"/>
                </a:solidFill>
                <a:latin typeface="Segoe UI"/>
              </a:defRPr>
            </a:pPr>
            <a:r>
              <a:t>Traditional SQL databases choke under intense concurrent polygon queries and require polling intervals that crash under emergency load.</a:t>
            </a:r>
          </a:p>
          <a:p>
            <a:pPr>
              <a:spcBef>
                <a:spcPts val="800"/>
              </a:spcBef>
              <a:defRPr sz="1000" b="1">
                <a:solidFill>
                  <a:srgbClr val="FBBF24"/>
                </a:solidFill>
                <a:latin typeface="Segoe UI"/>
              </a:defRPr>
            </a:pPr>
            <a:r>
              <a:t>Impact: Command center dashboards display stale situation reports when seconds count.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577840"/>
            <a:ext cx="10698480" cy="777240"/>
          </a:xfrm>
          <a:prstGeom prst="roundRect">
            <a:avLst/>
          </a:prstGeom>
          <a:solidFill>
            <a:srgbClr val="18223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623560"/>
            <a:ext cx="1033272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10B981"/>
                </a:solidFill>
                <a:latin typeface="Segoe UI"/>
              </a:defRPr>
            </a:pPr>
            <a:r>
              <a:t>CORE PROBLEM STATEMENT:</a:t>
            </a:r>
          </a:p>
          <a:p>
            <a:pPr>
              <a:spcBef>
                <a:spcPts val="2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How can we design a zero-broker, event-driven architecture that eliminates dispatch latency and automatically coordinates victims with the nearest help in real-time?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Segoe UI"/>
              </a:defRPr>
            </a:pPr>
            <a:r>
              <a:t>02 / ACADEMIC &amp; TECHNICAL SCOPE</a:t>
            </a:r>
          </a:p>
          <a:p>
            <a:pPr>
              <a:spcBef>
                <a:spcPts val="400"/>
              </a:spcBef>
              <a:defRPr sz="2400" b="1">
                <a:solidFill>
                  <a:srgbClr val="FFFFFF"/>
                </a:solidFill>
                <a:latin typeface="Segoe UI"/>
              </a:defRPr>
            </a:pPr>
            <a:r>
              <a:t>Project Objectives &amp; Architectural Goals</a:t>
            </a:r>
          </a:p>
          <a:p>
            <a:pPr>
              <a:spcBef>
                <a:spcPts val="200"/>
              </a:spcBef>
              <a:defRPr sz="1200">
                <a:solidFill>
                  <a:srgbClr val="CBD5E1"/>
                </a:solidFill>
                <a:latin typeface="Segoe UI"/>
              </a:defRPr>
            </a:pPr>
            <a:r>
              <a:t>Engineered specifically to fulfill CSE494 Course Outcomes (CO1-CO6) using pure MongoDB capabilities.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874519"/>
            <a:ext cx="4663440" cy="4480560"/>
          </a:xfrm>
          <a:prstGeom prst="roundRect">
            <a:avLst/>
          </a:prstGeom>
          <a:solidFill>
            <a:srgbClr val="18223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057400"/>
            <a:ext cx="420624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Segoe UI"/>
              </a:defRPr>
            </a:pPr>
            <a:r>
              <a:t>CORE PROJECT OBJECTIVES</a:t>
            </a:r>
          </a:p>
          <a:p>
            <a:pPr>
              <a:spcBef>
                <a:spcPts val="600"/>
              </a:spcBef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 engineer an intelligent, event-driven disaster response system that uses MongoDB's native 2dsphere indexing and aggregation pipelines to eliminate dispatch latency during critical first-hour calamity rescue operations.</a:t>
            </a:r>
          </a:p>
          <a:p>
            <a:pPr>
              <a:spcBef>
                <a:spcPts val="800"/>
              </a:spcBef>
              <a:defRPr sz="1050" b="1">
                <a:solidFill>
                  <a:srgbClr val="38BDF8"/>
                </a:solidFill>
                <a:latin typeface="Segoe UI"/>
              </a:defRPr>
            </a:pPr>
            <a:r>
              <a:t>Specific Technical Objectives (Syllabus Mapped):</a:t>
            </a:r>
          </a:p>
          <a:p>
            <a:pPr>
              <a:spcBef>
                <a:spcPts val="400"/>
              </a:spcBef>
              <a:defRPr sz="950">
                <a:solidFill>
                  <a:srgbClr val="CBD5E1"/>
                </a:solidFill>
                <a:latin typeface="Segoe UI"/>
              </a:defRPr>
            </a:pPr>
            <a:r>
              <a:t>• 1. Sub-100ms $geoNear Matching: Native spherical distance computation over Earth's curvature (Unit IV).</a:t>
            </a:r>
          </a:p>
          <a:p>
            <a:pPr>
              <a:spcBef>
                <a:spcPts val="400"/>
              </a:spcBef>
              <a:defRPr sz="950">
                <a:solidFill>
                  <a:srgbClr val="CBD5E1"/>
                </a:solidFill>
                <a:latin typeface="Segoe UI"/>
              </a:defRPr>
            </a:pPr>
            <a:r>
              <a:t>• 2. Multi-Stage Aggregation Triage: Dynamic scoring combining severity, casualty count, and proximity (Unit IV).</a:t>
            </a:r>
          </a:p>
          <a:p>
            <a:pPr>
              <a:spcBef>
                <a:spcPts val="400"/>
              </a:spcBef>
              <a:defRPr sz="950">
                <a:solidFill>
                  <a:srgbClr val="CBD5E1"/>
                </a:solidFill>
                <a:latin typeface="Segoe UI"/>
              </a:defRPr>
            </a:pPr>
            <a:r>
              <a:t>• 3. Autonomous TTL Lifecycle: Native self-cleaning of resolved alerts after 48h without background cron jobs (Unit II).</a:t>
            </a:r>
          </a:p>
          <a:p>
            <a:pPr>
              <a:spcBef>
                <a:spcPts val="400"/>
              </a:spcBef>
              <a:defRPr sz="950">
                <a:solidFill>
                  <a:srgbClr val="CBD5E1"/>
                </a:solidFill>
                <a:latin typeface="Segoe UI"/>
              </a:defRPr>
            </a:pPr>
            <a:r>
              <a:t>• 4. Zero-Broker Event Push: Streaming live database state via MongoDB Change Streams without Redis/Kafka (Unit V).</a:t>
            </a:r>
          </a:p>
          <a:p>
            <a:pPr>
              <a:spcBef>
                <a:spcPts val="400"/>
              </a:spcBef>
              <a:defRPr sz="950">
                <a:solidFill>
                  <a:srgbClr val="CBD5E1"/>
                </a:solidFill>
                <a:latin typeface="Segoe UI"/>
              </a:defRPr>
            </a:pPr>
            <a:r>
              <a:t>• 5. Polymorphic GeoJSON Modeling: Embedded BSON Point schemas supporting diverse calamity attributes (Unit III).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577840" y="1874519"/>
            <a:ext cx="5852160" cy="98755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715000" y="2057399"/>
            <a:ext cx="54864" cy="62179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97880" y="2011679"/>
            <a:ext cx="5349240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 b="1">
                <a:solidFill>
                  <a:srgbClr val="FFFFFF"/>
                </a:solidFill>
                <a:latin typeface="Segoe UI"/>
              </a:defRPr>
            </a:pPr>
            <a:r>
              <a:t>Obj 1: Hyperlocal Proximity Dispatch ($geoNear)</a:t>
            </a:r>
          </a:p>
          <a:p>
            <a:pPr>
              <a:spcBef>
                <a:spcPts val="300"/>
              </a:spcBef>
              <a:defRPr sz="1000">
                <a:solidFill>
                  <a:srgbClr val="CBD5E1"/>
                </a:solidFill>
                <a:latin typeface="Segoe UI"/>
              </a:defRPr>
            </a:pPr>
            <a:r>
              <a:t>Pair stranded victims with closest volunteers within a 15km radius in &lt;18ms using spherical indexing.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77840" y="3026663"/>
            <a:ext cx="5852160" cy="98755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715000" y="3209543"/>
            <a:ext cx="54864" cy="62179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97880" y="3163823"/>
            <a:ext cx="5349240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 b="1">
                <a:solidFill>
                  <a:srgbClr val="FFFFFF"/>
                </a:solidFill>
                <a:latin typeface="Segoe UI"/>
              </a:defRPr>
            </a:pPr>
            <a:r>
              <a:t>Obj 2: Multi-Stage Priority Aggregation Pipeline</a:t>
            </a:r>
          </a:p>
          <a:p>
            <a:pPr>
              <a:spcBef>
                <a:spcPts val="300"/>
              </a:spcBef>
              <a:defRPr sz="1000">
                <a:solidFill>
                  <a:srgbClr val="CBD5E1"/>
                </a:solidFill>
                <a:latin typeface="Segoe UI"/>
              </a:defRPr>
            </a:pPr>
            <a:r>
              <a:t>Execute server-side triage calculation in a single database roundtrip, eliminating application bottleneck.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77840" y="4178807"/>
            <a:ext cx="5852160" cy="98755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715000" y="4361687"/>
            <a:ext cx="54864" cy="621792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97880" y="4315967"/>
            <a:ext cx="5349240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 b="1">
                <a:solidFill>
                  <a:srgbClr val="FFFFFF"/>
                </a:solidFill>
                <a:latin typeface="Segoe UI"/>
              </a:defRPr>
            </a:pPr>
            <a:r>
              <a:t>Obj 3: Autonomous TTL Data Purging (48h)</a:t>
            </a:r>
          </a:p>
          <a:p>
            <a:pPr>
              <a:spcBef>
                <a:spcPts val="300"/>
              </a:spcBef>
              <a:defRPr sz="1000">
                <a:solidFill>
                  <a:srgbClr val="CBD5E1"/>
                </a:solidFill>
                <a:latin typeface="Segoe UI"/>
              </a:defRPr>
            </a:pPr>
            <a:r>
              <a:t>Leverage MongoDB's background thread to expire closed incidents automatically on resolvedAt timestamp.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77840" y="5330951"/>
            <a:ext cx="5852160" cy="98755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715000" y="5513831"/>
            <a:ext cx="54864" cy="62179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97880" y="5468111"/>
            <a:ext cx="5349240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 b="1">
                <a:solidFill>
                  <a:srgbClr val="FFFFFF"/>
                </a:solidFill>
                <a:latin typeface="Segoe UI"/>
              </a:defRPr>
            </a:pPr>
            <a:r>
              <a:t>Obj 4: Hyperlocal Fleet Auto-Provisioning</a:t>
            </a:r>
          </a:p>
          <a:p>
            <a:pPr>
              <a:spcBef>
                <a:spcPts val="300"/>
              </a:spcBef>
              <a:defRPr sz="1000">
                <a:solidFill>
                  <a:srgbClr val="CBD5E1"/>
                </a:solidFill>
                <a:latin typeface="Segoe UI"/>
              </a:defRPr>
            </a:pPr>
            <a:r>
              <a:t>Dynamically commission local neighborhood rapid units when no pre-deployed crew is within range, leaving 0 victims unattended.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Segoe UI"/>
              </a:defRPr>
            </a:pPr>
            <a:r>
              <a:t>03 / ENGINEERING DESIGN</a:t>
            </a:r>
          </a:p>
          <a:p>
            <a:pPr>
              <a:spcBef>
                <a:spcPts val="400"/>
              </a:spcBef>
              <a:defRPr sz="2400" b="1">
                <a:solidFill>
                  <a:srgbClr val="FFFFFF"/>
                </a:solidFill>
                <a:latin typeface="Segoe UI"/>
              </a:defRPr>
            </a:pPr>
            <a:r>
              <a:t>End-to-End System Architecture</a:t>
            </a:r>
          </a:p>
          <a:p>
            <a:pPr>
              <a:spcBef>
                <a:spcPts val="200"/>
              </a:spcBef>
              <a:defRPr sz="1200">
                <a:solidFill>
                  <a:srgbClr val="CBD5E1"/>
                </a:solidFill>
                <a:latin typeface="Segoe UI"/>
              </a:defRPr>
            </a:pPr>
            <a:r>
              <a:t>Designed for ultra-low latency, maximum operational reliability, and pure MongoDB utilization.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874519"/>
            <a:ext cx="3328416" cy="3246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103119"/>
            <a:ext cx="2871216" cy="2880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TIER 1: CLIENT FRONTEND</a:t>
            </a:r>
          </a:p>
          <a:p>
            <a:pPr>
              <a:spcBef>
                <a:spcPts val="200"/>
              </a:spcBef>
              <a:defRPr sz="1300" b="1">
                <a:solidFill>
                  <a:srgbClr val="FFFFFF"/>
                </a:solidFill>
                <a:latin typeface="Segoe UI"/>
              </a:defRPr>
            </a:pPr>
            <a:r>
              <a:t>Interactive Crisis Console</a:t>
            </a:r>
          </a:p>
          <a:p>
            <a:pPr>
              <a:spcBef>
                <a:spcPts val="500"/>
              </a:spcBef>
              <a:defRPr sz="1000">
                <a:solidFill>
                  <a:srgbClr val="CBD5E1"/>
                </a:solidFill>
                <a:latin typeface="Segoe UI"/>
              </a:defRPr>
            </a:pPr>
            <a:r>
              <a:t>• Framework: Next.js 14 / React (App Router)</a:t>
            </a:r>
          </a:p>
          <a:p>
            <a:pPr>
              <a:spcBef>
                <a:spcPts val="500"/>
              </a:spcBef>
              <a:defRPr sz="1000">
                <a:solidFill>
                  <a:srgbClr val="CBD5E1"/>
                </a:solidFill>
                <a:latin typeface="Segoe UI"/>
              </a:defRPr>
            </a:pPr>
            <a:r>
              <a:t>• Styling: Tailwind CSS + Lucide Component Library</a:t>
            </a:r>
          </a:p>
          <a:p>
            <a:pPr>
              <a:spcBef>
                <a:spcPts val="500"/>
              </a:spcBef>
              <a:defRPr sz="1000">
                <a:solidFill>
                  <a:srgbClr val="CBD5E1"/>
                </a:solidFill>
                <a:latin typeface="Segoe UI"/>
              </a:defRPr>
            </a:pPr>
            <a:r>
              <a:t>• Mapping Layer: Mapbox GL for live GPS pins &amp; heatmaps</a:t>
            </a:r>
          </a:p>
          <a:p>
            <a:pPr>
              <a:spcBef>
                <a:spcPts val="500"/>
              </a:spcBef>
              <a:defRPr sz="1000">
                <a:solidFill>
                  <a:srgbClr val="CBD5E1"/>
                </a:solidFill>
                <a:latin typeface="Segoe UI"/>
              </a:defRPr>
            </a:pPr>
            <a:r>
              <a:t>• User Views: Citizen SOS Portal &amp; Dispatcher Command Center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07408" y="1874519"/>
            <a:ext cx="3328416" cy="3246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36008" y="2103119"/>
            <a:ext cx="2871216" cy="2880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FBBF24"/>
                </a:solidFill>
                <a:latin typeface="Segoe UI"/>
              </a:defRPr>
            </a:pPr>
            <a:r>
              <a:t>TIER 2: API GATEWAY</a:t>
            </a:r>
          </a:p>
          <a:p>
            <a:pPr>
              <a:spcBef>
                <a:spcPts val="200"/>
              </a:spcBef>
              <a:defRPr sz="1300" b="1">
                <a:solidFill>
                  <a:srgbClr val="FFFFFF"/>
                </a:solidFill>
                <a:latin typeface="Segoe UI"/>
              </a:defRPr>
            </a:pPr>
            <a:r>
              <a:t>Real-Time Event Bridge</a:t>
            </a:r>
          </a:p>
          <a:p>
            <a:pPr>
              <a:spcBef>
                <a:spcPts val="500"/>
              </a:spcBef>
              <a:defRPr sz="1000">
                <a:solidFill>
                  <a:srgbClr val="CBD5E1"/>
                </a:solidFill>
                <a:latin typeface="Segoe UI"/>
              </a:defRPr>
            </a:pPr>
            <a:r>
              <a:t>• Runtime: Node.js + Express / Fastify</a:t>
            </a:r>
          </a:p>
          <a:p>
            <a:pPr>
              <a:spcBef>
                <a:spcPts val="500"/>
              </a:spcBef>
              <a:defRPr sz="1000">
                <a:solidFill>
                  <a:srgbClr val="CBD5E1"/>
                </a:solidFill>
                <a:latin typeface="Segoe UI"/>
              </a:defRPr>
            </a:pPr>
            <a:r>
              <a:t>• Data Connector: MongoDB Native Driver / Mongoose</a:t>
            </a:r>
          </a:p>
          <a:p>
            <a:pPr>
              <a:spcBef>
                <a:spcPts val="500"/>
              </a:spcBef>
              <a:defRPr sz="1000">
                <a:solidFill>
                  <a:srgbClr val="CBD5E1"/>
                </a:solidFill>
                <a:latin typeface="Segoe UI"/>
              </a:defRPr>
            </a:pPr>
            <a:r>
              <a:t>• Push Protocol: WebSockets (Socket.io) for bidirectional push</a:t>
            </a:r>
          </a:p>
          <a:p>
            <a:pPr>
              <a:spcBef>
                <a:spcPts val="500"/>
              </a:spcBef>
              <a:defRPr sz="1000">
                <a:solidFill>
                  <a:srgbClr val="CBD5E1"/>
                </a:solidFill>
                <a:latin typeface="Segoe UI"/>
              </a:defRPr>
            </a:pPr>
            <a:r>
              <a:t>• Validation: GeoJSON coordinate &amp; schema guardrails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83296" y="1874519"/>
            <a:ext cx="3328416" cy="3246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11896" y="2103119"/>
            <a:ext cx="2871216" cy="2880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Segoe UI"/>
              </a:defRPr>
            </a:pPr>
            <a:r>
              <a:t>TIER 3: DATABASE CORE</a:t>
            </a:r>
          </a:p>
          <a:p>
            <a:pPr>
              <a:spcBef>
                <a:spcPts val="200"/>
              </a:spcBef>
              <a:defRPr sz="1300" b="1">
                <a:solidFill>
                  <a:srgbClr val="FFFFFF"/>
                </a:solidFill>
                <a:latin typeface="Segoe UI"/>
              </a:defRPr>
            </a:pPr>
            <a:r>
              <a:t>Pure MongoDB Atlas Core</a:t>
            </a:r>
          </a:p>
          <a:p>
            <a:pPr>
              <a:spcBef>
                <a:spcPts val="500"/>
              </a:spcBef>
              <a:defRPr sz="1000">
                <a:solidFill>
                  <a:srgbClr val="CBD5E1"/>
                </a:solidFill>
                <a:latin typeface="Segoe UI"/>
              </a:defRPr>
            </a:pPr>
            <a:r>
              <a:t>• Spatial Engine: 2dsphere Index for spherical $geoNear</a:t>
            </a:r>
          </a:p>
          <a:p>
            <a:pPr>
              <a:spcBef>
                <a:spcPts val="500"/>
              </a:spcBef>
              <a:defRPr sz="1000">
                <a:solidFill>
                  <a:srgbClr val="CBD5E1"/>
                </a:solidFill>
                <a:latin typeface="Segoe UI"/>
              </a:defRPr>
            </a:pPr>
            <a:r>
              <a:t>• Event Streaming: MongoDB Change Streams for reactive push</a:t>
            </a:r>
          </a:p>
          <a:p>
            <a:pPr>
              <a:spcBef>
                <a:spcPts val="500"/>
              </a:spcBef>
              <a:defRPr sz="1000">
                <a:solidFill>
                  <a:srgbClr val="CBD5E1"/>
                </a:solidFill>
                <a:latin typeface="Segoe UI"/>
              </a:defRPr>
            </a:pPr>
            <a:r>
              <a:t>• Analytics Engine: Multi-stage Aggregations for triage scoring</a:t>
            </a:r>
          </a:p>
          <a:p>
            <a:pPr>
              <a:spcBef>
                <a:spcPts val="500"/>
              </a:spcBef>
              <a:defRPr sz="1000">
                <a:solidFill>
                  <a:srgbClr val="CBD5E1"/>
                </a:solidFill>
                <a:latin typeface="Segoe UI"/>
              </a:defRPr>
            </a:pPr>
            <a:r>
              <a:t>• Auto Maintenance: TTL Indexes for automatic resolution archiving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303520"/>
            <a:ext cx="10698480" cy="1051560"/>
          </a:xfrm>
          <a:prstGeom prst="roundRect">
            <a:avLst/>
          </a:prstGeom>
          <a:solidFill>
            <a:srgbClr val="182235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376672"/>
            <a:ext cx="1033272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10B981"/>
                </a:solidFill>
                <a:latin typeface="Segoe UI"/>
              </a:defRPr>
            </a:pPr>
            <a:r>
              <a:t>EVENT-DRIVEN DATA FLOW IN ACTION:</a:t>
            </a:r>
          </a:p>
          <a:p>
            <a:pPr>
              <a:spcBef>
                <a:spcPts val="300"/>
              </a:spcBef>
              <a:defRPr sz="1050">
                <a:solidFill>
                  <a:srgbClr val="FFFFFF"/>
                </a:solidFill>
                <a:latin typeface="Segoe UI"/>
              </a:defRPr>
            </a:pPr>
            <a:r>
              <a:t>1. Citizen Drops SOS [Lng, Lat]  ➔  2. Stored as GeoJSON in MongoDB  ➔  3. Change Stream detects insertion  ➔  4. WebSocket pushes incident to Map in &lt;80ms  ➔  5. $geoNear matches closest 3 available rescue squads.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Segoe UI"/>
              </a:defRPr>
            </a:pPr>
            <a:r>
              <a:t>04 / DATABASE CAPABILITIES</a:t>
            </a:r>
          </a:p>
          <a:p>
            <a:pPr>
              <a:spcBef>
                <a:spcPts val="400"/>
              </a:spcBef>
              <a:defRPr sz="2400" b="1">
                <a:solidFill>
                  <a:srgbClr val="FFFFFF"/>
                </a:solidFill>
                <a:latin typeface="Segoe UI"/>
              </a:defRPr>
            </a:pPr>
            <a:r>
              <a:t>Why MongoDB? Technical Deep-Dive</a:t>
            </a:r>
          </a:p>
          <a:p>
            <a:pPr>
              <a:spcBef>
                <a:spcPts val="200"/>
              </a:spcBef>
              <a:defRPr sz="1200">
                <a:solidFill>
                  <a:srgbClr val="CBD5E1"/>
                </a:solidFill>
                <a:latin typeface="Segoe UI"/>
              </a:defRPr>
            </a:pPr>
            <a:r>
              <a:t>Demonstrating why MongoDB's native features outperform traditional relational databases for this platform.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874519"/>
            <a:ext cx="5166360" cy="20574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039111"/>
            <a:ext cx="4709160" cy="1783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10B981"/>
                </a:solidFill>
                <a:latin typeface="Segoe UI"/>
              </a:defRPr>
            </a:pPr>
            <a:r>
              <a:t>1. Geospatial 2dsphere Indexing</a:t>
            </a:r>
          </a:p>
          <a:p>
            <a:pPr>
              <a:spcBef>
                <a:spcPts val="200"/>
              </a:spcBef>
              <a:defRPr sz="1050" b="1">
                <a:solidFill>
                  <a:srgbClr val="FFFFFF"/>
                </a:solidFill>
                <a:latin typeface="Segoe UI"/>
              </a:defRPr>
            </a:pPr>
            <a:r>
              <a:t>Spherical distance calculations directly over Earth's curvature.</a:t>
            </a:r>
          </a:p>
          <a:p>
            <a:pPr>
              <a:spcBef>
                <a:spcPts val="400"/>
              </a:spcBef>
              <a:defRPr sz="950">
                <a:solidFill>
                  <a:srgbClr val="CBD5E1"/>
                </a:solidFill>
                <a:latin typeface="Segoe UI"/>
              </a:defRPr>
            </a:pPr>
            <a:r>
              <a:t>• Natively indexes standard GeoJSON objects (Point, Polygon, MultiPolygon).</a:t>
            </a:r>
            <a:br/>
            <a:r>
              <a:t>• Eliminates need for PostGIS extensions or external spatial engines.</a:t>
            </a:r>
            <a:br/>
            <a:r>
              <a:t>• Enables sub-millisecond $geoNear execution with $maxDistance constraints.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874519"/>
            <a:ext cx="5166360" cy="20574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0" y="2039111"/>
            <a:ext cx="4709160" cy="1783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Segoe UI"/>
              </a:defRPr>
            </a:pPr>
            <a:r>
              <a:t>2. Built-in Change Streams</a:t>
            </a:r>
          </a:p>
          <a:p>
            <a:pPr>
              <a:spcBef>
                <a:spcPts val="200"/>
              </a:spcBef>
              <a:defRPr sz="1050" b="1">
                <a:solidFill>
                  <a:srgbClr val="FFFFFF"/>
                </a:solidFill>
                <a:latin typeface="Segoe UI"/>
              </a:defRPr>
            </a:pPr>
            <a:r>
              <a:t>Tailored directly on MongoDB's internal high-speed Oplog.</a:t>
            </a:r>
          </a:p>
          <a:p>
            <a:pPr>
              <a:spcBef>
                <a:spcPts val="400"/>
              </a:spcBef>
              <a:defRPr sz="950">
                <a:solidFill>
                  <a:srgbClr val="CBD5E1"/>
                </a:solidFill>
                <a:latin typeface="Segoe UI"/>
              </a:defRPr>
            </a:pPr>
            <a:r>
              <a:t>• Real-time database mutations pushed immediately to connected clients.</a:t>
            </a:r>
            <a:br/>
            <a:r>
              <a:t>• Replaces external Redis Pub/Sub, Kafka, or heavy socket polling.</a:t>
            </a:r>
            <a:br/>
            <a:r>
              <a:t>• Guarantees event ordering and automatic resume token recovery if disconnects occur.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206240"/>
            <a:ext cx="5166360" cy="20574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4370832"/>
            <a:ext cx="4709160" cy="1783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FBBF24"/>
                </a:solidFill>
                <a:latin typeface="Segoe UI"/>
              </a:defRPr>
            </a:pPr>
            <a:r>
              <a:t>3. Multi-Stage Aggregation Pipeline</a:t>
            </a:r>
          </a:p>
          <a:p>
            <a:pPr>
              <a:spcBef>
                <a:spcPts val="200"/>
              </a:spcBef>
              <a:defRPr sz="1050" b="1">
                <a:solidFill>
                  <a:srgbClr val="FFFFFF"/>
                </a:solidFill>
                <a:latin typeface="Segoe UI"/>
              </a:defRPr>
            </a:pPr>
            <a:r>
              <a:t>Complex spatial triage computed in a single database round-trip.</a:t>
            </a:r>
          </a:p>
          <a:p>
            <a:pPr>
              <a:spcBef>
                <a:spcPts val="400"/>
              </a:spcBef>
              <a:defRPr sz="950">
                <a:solidFill>
                  <a:srgbClr val="CBD5E1"/>
                </a:solidFill>
                <a:latin typeface="Segoe UI"/>
              </a:defRPr>
            </a:pPr>
            <a:r>
              <a:t>• Stage 1 ($geoNear): Filter within 10 km radius.</a:t>
            </a:r>
            <a:br/>
            <a:r>
              <a:t>• Stage 2 ($match): Status = 'Active' &amp; Category = 'Medical'.</a:t>
            </a:r>
            <a:br/>
            <a:r>
              <a:t>• Stage 3 ($addFields): Compute composite urgency score (Casualties × Wait Time).</a:t>
            </a:r>
            <a:br/>
            <a:r>
              <a:t>• Stage 4 ($sort): Rank by score descending.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4206240"/>
            <a:ext cx="5166360" cy="20574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4370832"/>
            <a:ext cx="4709160" cy="1783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10B981"/>
                </a:solidFill>
                <a:latin typeface="Segoe UI"/>
              </a:defRPr>
            </a:pPr>
            <a:r>
              <a:t>4. Polymorphic Schema &amp; TTL Indexes</a:t>
            </a:r>
          </a:p>
          <a:p>
            <a:pPr>
              <a:spcBef>
                <a:spcPts val="200"/>
              </a:spcBef>
              <a:defRPr sz="1050" b="1">
                <a:solidFill>
                  <a:srgbClr val="FFFFFF"/>
                </a:solidFill>
                <a:latin typeface="Segoe UI"/>
              </a:defRPr>
            </a:pPr>
            <a:r>
              <a:t>Unmatched flexibility for evolving disaster scenarios.</a:t>
            </a:r>
          </a:p>
          <a:p>
            <a:pPr>
              <a:spcBef>
                <a:spcPts val="400"/>
              </a:spcBef>
              <a:defRPr sz="950">
                <a:solidFill>
                  <a:srgbClr val="CBD5E1"/>
                </a:solidFill>
                <a:latin typeface="Segoe UI"/>
              </a:defRPr>
            </a:pPr>
            <a:r>
              <a:t>• Diverse incident types (Floods, Fires, Earthquakes) store custom attributes with zero migrations.</a:t>
            </a:r>
            <a:br/>
            <a:r>
              <a:t>• TTL Indexes automatically expire and clean up resolved pins after 48 hours.</a:t>
            </a:r>
            <a:br/>
            <a:r>
              <a:t>• Native replica sets provide high availability during crisis infrastructure surges.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Segoe UI"/>
              </a:defRPr>
            </a:pPr>
            <a:r>
              <a:t>05 / IMPACT &amp; FUTURE SCOPE</a:t>
            </a:r>
          </a:p>
          <a:p>
            <a:pPr>
              <a:spcBef>
                <a:spcPts val="400"/>
              </a:spcBef>
              <a:defRPr sz="2400" b="1">
                <a:solidFill>
                  <a:srgbClr val="FFFFFF"/>
                </a:solidFill>
                <a:latin typeface="Segoe UI"/>
              </a:defRPr>
            </a:pPr>
            <a:r>
              <a:t>Live Demonstration, Impact &amp; Future Roadmap</a:t>
            </a:r>
          </a:p>
          <a:p>
            <a:pPr>
              <a:spcBef>
                <a:spcPts val="200"/>
              </a:spcBef>
              <a:defRPr sz="1200">
                <a:solidFill>
                  <a:srgbClr val="CBD5E1"/>
                </a:solidFill>
                <a:latin typeface="Segoe UI"/>
              </a:defRPr>
            </a:pPr>
            <a:r>
              <a:t>Validating practical disaster response efficiency and outlining real-world deployment.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874519"/>
            <a:ext cx="3328416" cy="37947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057399"/>
            <a:ext cx="2871216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10B981"/>
                </a:solidFill>
                <a:latin typeface="Segoe UI"/>
              </a:defRPr>
            </a:pPr>
            <a:r>
              <a:t>DEMO WORKFLOW</a:t>
            </a:r>
          </a:p>
          <a:p>
            <a:pPr>
              <a:spcBef>
                <a:spcPts val="600"/>
              </a:spcBef>
              <a:defRPr sz="1050" b="1">
                <a:solidFill>
                  <a:srgbClr val="FFFFFF"/>
                </a:solidFill>
                <a:latin typeface="Segoe UI"/>
              </a:defRPr>
            </a:pPr>
            <a:r>
              <a:t>Step 1: Citizen SOS Ping</a:t>
            </a:r>
          </a:p>
          <a:p>
            <a:pPr>
              <a:spcBef>
                <a:spcPts val="100"/>
              </a:spcBef>
              <a:defRPr sz="950">
                <a:solidFill>
                  <a:srgbClr val="CBD5E1"/>
                </a:solidFill>
                <a:latin typeface="Segoe UI"/>
              </a:defRPr>
            </a:pPr>
            <a:r>
              <a:t>Victim triggers SOS pin on mobile web UI; coordinates captured automatically.</a:t>
            </a:r>
          </a:p>
          <a:p>
            <a:pPr>
              <a:spcBef>
                <a:spcPts val="600"/>
              </a:spcBef>
              <a:defRPr sz="1050" b="1">
                <a:solidFill>
                  <a:srgbClr val="FFFFFF"/>
                </a:solidFill>
                <a:latin typeface="Segoe UI"/>
              </a:defRPr>
            </a:pPr>
            <a:r>
              <a:t>Step 2: Instant Change Stream</a:t>
            </a:r>
          </a:p>
          <a:p>
            <a:pPr>
              <a:spcBef>
                <a:spcPts val="100"/>
              </a:spcBef>
              <a:defRPr sz="950">
                <a:solidFill>
                  <a:srgbClr val="CBD5E1"/>
                </a:solidFill>
                <a:latin typeface="Segoe UI"/>
              </a:defRPr>
            </a:pPr>
            <a:r>
              <a:t>MongoDB Change Stream broadcasts payload to central command map in real-time (&lt;80ms).</a:t>
            </a:r>
          </a:p>
          <a:p>
            <a:pPr>
              <a:spcBef>
                <a:spcPts val="600"/>
              </a:spcBef>
              <a:defRPr sz="1050" b="1">
                <a:solidFill>
                  <a:srgbClr val="FFFFFF"/>
                </a:solidFill>
                <a:latin typeface="Segoe UI"/>
              </a:defRPr>
            </a:pPr>
            <a:r>
              <a:t>Step 3: Dynamic Allocation</a:t>
            </a:r>
          </a:p>
          <a:p>
            <a:pPr>
              <a:spcBef>
                <a:spcPts val="100"/>
              </a:spcBef>
              <a:defRPr sz="950">
                <a:solidFill>
                  <a:srgbClr val="CBD5E1"/>
                </a:solidFill>
                <a:latin typeface="Segoe UI"/>
              </a:defRPr>
            </a:pPr>
            <a:r>
              <a:t>System runs $geoNear to identify closest 3 available rescue squads &amp; route distance.</a:t>
            </a:r>
          </a:p>
          <a:p>
            <a:pPr>
              <a:spcBef>
                <a:spcPts val="600"/>
              </a:spcBef>
              <a:defRPr sz="1050" b="1">
                <a:solidFill>
                  <a:srgbClr val="FFFFFF"/>
                </a:solidFill>
                <a:latin typeface="Segoe UI"/>
              </a:defRPr>
            </a:pPr>
            <a:r>
              <a:t>Step 4: Status Transition</a:t>
            </a:r>
          </a:p>
          <a:p>
            <a:pPr>
              <a:spcBef>
                <a:spcPts val="100"/>
              </a:spcBef>
              <a:defRPr sz="950">
                <a:solidFill>
                  <a:srgbClr val="CBD5E1"/>
                </a:solidFill>
                <a:latin typeface="Segoe UI"/>
              </a:defRPr>
            </a:pPr>
            <a:r>
              <a:t>Incident marked 'Dispatched'; volunteer phone receives push directions.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07408" y="1874519"/>
            <a:ext cx="3328416" cy="37947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36008" y="2057399"/>
            <a:ext cx="2871216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Segoe UI"/>
              </a:defRPr>
            </a:pPr>
            <a:r>
              <a:t>MEASURABLE IMPACT</a:t>
            </a:r>
          </a:p>
          <a:p>
            <a:pPr>
              <a:spcBef>
                <a:spcPts val="600"/>
              </a:spcBef>
              <a:defRPr sz="1050" b="1">
                <a:solidFill>
                  <a:srgbClr val="FFFFFF"/>
                </a:solidFill>
                <a:latin typeface="Segoe UI"/>
              </a:defRPr>
            </a:pPr>
            <a:r>
              <a:t>65% Faster Dispatch</a:t>
            </a:r>
          </a:p>
          <a:p>
            <a:pPr>
              <a:spcBef>
                <a:spcPts val="100"/>
              </a:spcBef>
              <a:defRPr sz="950">
                <a:solidFill>
                  <a:srgbClr val="CBD5E1"/>
                </a:solidFill>
                <a:latin typeface="Segoe UI"/>
              </a:defRPr>
            </a:pPr>
            <a:r>
              <a:t>Drastically cuts down triage time during the golden hour of survival.</a:t>
            </a:r>
          </a:p>
          <a:p>
            <a:pPr>
              <a:spcBef>
                <a:spcPts val="600"/>
              </a:spcBef>
              <a:defRPr sz="1050" b="1">
                <a:solidFill>
                  <a:srgbClr val="FFFFFF"/>
                </a:solidFill>
                <a:latin typeface="Segoe UI"/>
              </a:defRPr>
            </a:pPr>
            <a:r>
              <a:t>Single Database Simplicity</a:t>
            </a:r>
          </a:p>
          <a:p>
            <a:pPr>
              <a:spcBef>
                <a:spcPts val="100"/>
              </a:spcBef>
              <a:defRPr sz="950">
                <a:solidFill>
                  <a:srgbClr val="CBD5E1"/>
                </a:solidFill>
                <a:latin typeface="Segoe UI"/>
              </a:defRPr>
            </a:pPr>
            <a:r>
              <a:t>Zero third-party queue/cache maintenance (No Redis, RabbitMQ, or PostGIS).</a:t>
            </a:r>
          </a:p>
          <a:p>
            <a:pPr>
              <a:spcBef>
                <a:spcPts val="600"/>
              </a:spcBef>
              <a:defRPr sz="1050" b="1">
                <a:solidFill>
                  <a:srgbClr val="FFFFFF"/>
                </a:solidFill>
                <a:latin typeface="Segoe UI"/>
              </a:defRPr>
            </a:pPr>
            <a:r>
              <a:t>Scalable Under Surges</a:t>
            </a:r>
          </a:p>
          <a:p>
            <a:pPr>
              <a:spcBef>
                <a:spcPts val="100"/>
              </a:spcBef>
              <a:defRPr sz="950">
                <a:solidFill>
                  <a:srgbClr val="CBD5E1"/>
                </a:solidFill>
                <a:latin typeface="Segoe UI"/>
              </a:defRPr>
            </a:pPr>
            <a:r>
              <a:t>Document model natively scales horizontally with MongoDB Atlas Sharding.</a:t>
            </a:r>
          </a:p>
          <a:p>
            <a:pPr>
              <a:spcBef>
                <a:spcPts val="600"/>
              </a:spcBef>
              <a:defRPr sz="1050" b="1">
                <a:solidFill>
                  <a:srgbClr val="FFFFFF"/>
                </a:solidFill>
                <a:latin typeface="Segoe UI"/>
              </a:defRPr>
            </a:pPr>
            <a:r>
              <a:t>Sub-100ms Latency</a:t>
            </a:r>
          </a:p>
          <a:p>
            <a:pPr>
              <a:spcBef>
                <a:spcPts val="100"/>
              </a:spcBef>
              <a:defRPr sz="950">
                <a:solidFill>
                  <a:srgbClr val="CBD5E1"/>
                </a:solidFill>
                <a:latin typeface="Segoe UI"/>
              </a:defRPr>
            </a:pPr>
            <a:r>
              <a:t>Spatial queries execute in single-digit milliseconds.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83296" y="1874519"/>
            <a:ext cx="3328416" cy="37947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11896" y="2057399"/>
            <a:ext cx="2871216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FBBF24"/>
                </a:solidFill>
                <a:latin typeface="Segoe UI"/>
              </a:defRPr>
            </a:pPr>
            <a:r>
              <a:t>FUTURE ROADMAP</a:t>
            </a:r>
          </a:p>
          <a:p>
            <a:pPr>
              <a:spcBef>
                <a:spcPts val="600"/>
              </a:spcBef>
              <a:defRPr sz="1050" b="1">
                <a:solidFill>
                  <a:srgbClr val="FFFFFF"/>
                </a:solidFill>
                <a:latin typeface="Segoe UI"/>
              </a:defRPr>
            </a:pPr>
            <a:r>
              <a:t>Offline-First Realm Sync</a:t>
            </a:r>
          </a:p>
          <a:p>
            <a:pPr>
              <a:spcBef>
                <a:spcPts val="100"/>
              </a:spcBef>
              <a:defRPr sz="950">
                <a:solidFill>
                  <a:srgbClr val="CBD5E1"/>
                </a:solidFill>
                <a:latin typeface="Segoe UI"/>
              </a:defRPr>
            </a:pPr>
            <a:r>
              <a:t>MongoDB Atlas Device Sync for first-responders in zero-connectivity disaster zones.</a:t>
            </a:r>
          </a:p>
          <a:p>
            <a:pPr>
              <a:spcBef>
                <a:spcPts val="600"/>
              </a:spcBef>
              <a:defRPr sz="1050" b="1">
                <a:solidFill>
                  <a:srgbClr val="FFFFFF"/>
                </a:solidFill>
                <a:latin typeface="Segoe UI"/>
              </a:defRPr>
            </a:pPr>
            <a:r>
              <a:t>Atlas Vector Search</a:t>
            </a:r>
          </a:p>
          <a:p>
            <a:pPr>
              <a:spcBef>
                <a:spcPts val="100"/>
              </a:spcBef>
              <a:defRPr sz="950">
                <a:solidFill>
                  <a:srgbClr val="CBD5E1"/>
                </a:solidFill>
                <a:latin typeface="Segoe UI"/>
              </a:defRPr>
            </a:pPr>
            <a:r>
              <a:t>Automated classification of transcribed audio distress calls and SOS voice notes.</a:t>
            </a:r>
          </a:p>
          <a:p>
            <a:pPr>
              <a:spcBef>
                <a:spcPts val="600"/>
              </a:spcBef>
              <a:defRPr sz="1050" b="1">
                <a:solidFill>
                  <a:srgbClr val="FFFFFF"/>
                </a:solidFill>
                <a:latin typeface="Segoe UI"/>
              </a:defRPr>
            </a:pPr>
            <a:r>
              <a:t>Drone Fleet Integration</a:t>
            </a:r>
          </a:p>
          <a:p>
            <a:pPr>
              <a:spcBef>
                <a:spcPts val="100"/>
              </a:spcBef>
              <a:defRPr sz="950">
                <a:solidFill>
                  <a:srgbClr val="CBD5E1"/>
                </a:solidFill>
                <a:latin typeface="Segoe UI"/>
              </a:defRPr>
            </a:pPr>
            <a:r>
              <a:t>Automated drone dispatch for localized aerial medical kit drops.</a:t>
            </a:r>
          </a:p>
          <a:p>
            <a:pPr>
              <a:spcBef>
                <a:spcPts val="600"/>
              </a:spcBef>
              <a:defRPr sz="1050" b="1">
                <a:solidFill>
                  <a:srgbClr val="FFFFFF"/>
                </a:solidFill>
                <a:latin typeface="Segoe UI"/>
              </a:defRPr>
            </a:pPr>
            <a:r>
              <a:t>Multi-Agency Command</a:t>
            </a:r>
          </a:p>
          <a:p>
            <a:pPr>
              <a:spcBef>
                <a:spcPts val="100"/>
              </a:spcBef>
              <a:defRPr sz="950">
                <a:solidFill>
                  <a:srgbClr val="CBD5E1"/>
                </a:solidFill>
                <a:latin typeface="Segoe UI"/>
              </a:defRPr>
            </a:pPr>
            <a:r>
              <a:t>Role-based access control for Red Cross, Fire, and Medical response squads.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806440"/>
            <a:ext cx="10698480" cy="594360"/>
          </a:xfrm>
          <a:prstGeom prst="roundRect">
            <a:avLst/>
          </a:prstGeom>
          <a:solidFill>
            <a:srgbClr val="18223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870448"/>
            <a:ext cx="103327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GeoPulse demonstrates that a pure MongoDB architecture is uniquely suited for mission-critical, spatial-first emergency systems. Thank you!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