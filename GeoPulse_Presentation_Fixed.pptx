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146304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698480" cy="2926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Segoe UI"/>
              </a:defRPr>
            </a:pPr>
            <a:r>
              <a:t>REAL-TIME RESCUE LOGISTICS &amp; DISASTER RESPONSE SYSTEM</a:t>
            </a:r>
          </a:p>
          <a:p>
            <a:pPr>
              <a:spcBef>
                <a:spcPts val="800"/>
              </a:spcBef>
              <a:defRPr sz="5400" b="1">
                <a:solidFill>
                  <a:srgbClr val="F1F5F9"/>
                </a:solidFill>
                <a:latin typeface="Segoe UI"/>
              </a:defRPr>
            </a:pPr>
            <a:r>
              <a:t>GeoPulse</a:t>
            </a:r>
          </a:p>
          <a:p>
            <a:pPr>
              <a:spcBef>
                <a:spcPts val="400"/>
              </a:spcBef>
              <a:defRPr sz="2000" b="1">
                <a:solidFill>
                  <a:srgbClr val="38BDF8"/>
                </a:solidFill>
                <a:latin typeface="Segoe UI"/>
              </a:defRPr>
            </a:pPr>
            <a:r>
              <a:t>Real-Time Emergency Response &amp; Resource Dispatch Platform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  <a:latin typeface="Segoe UI"/>
              </a:defRPr>
            </a:pPr>
            <a:r>
              <a:t>Connecting stranded disaster victims with nearest rescue squads in milliseconds using MongoDB geospatial indexing.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297680"/>
            <a:ext cx="3328416" cy="1600200"/>
          </a:xfrm>
          <a:prstGeom prst="roundRect">
            <a:avLst/>
          </a:prstGeom>
          <a:solidFill>
            <a:srgbClr val="121720"/>
          </a:solidFill>
          <a:ln w="12700">
            <a:solidFill>
              <a:srgbClr val="262C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4434840"/>
            <a:ext cx="2871216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Segoe UI"/>
              </a:defRPr>
            </a:pPr>
            <a:r>
              <a:t>SUB-20MS SPATIAL MATCHING</a:t>
            </a:r>
          </a:p>
          <a:p>
            <a:pPr>
              <a:spcBef>
                <a:spcPts val="400"/>
              </a:spcBef>
              <a:defRPr sz="1000">
                <a:solidFill>
                  <a:srgbClr val="94A3B8"/>
                </a:solidFill>
                <a:latin typeface="Segoe UI"/>
              </a:defRPr>
            </a:pPr>
            <a:r>
              <a:t>MongoDB 2dsphere index calculates true Earth-curvature distance to dispatch nearest squads.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07408" y="4297680"/>
            <a:ext cx="3328416" cy="1600200"/>
          </a:xfrm>
          <a:prstGeom prst="roundRect">
            <a:avLst/>
          </a:prstGeom>
          <a:solidFill>
            <a:srgbClr val="121720"/>
          </a:solidFill>
          <a:ln w="12700">
            <a:solidFill>
              <a:srgbClr val="262C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36008" y="4434840"/>
            <a:ext cx="2871216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ONE-TAP CITIZEN SOS BEACON</a:t>
            </a:r>
          </a:p>
          <a:p>
            <a:pPr>
              <a:spcBef>
                <a:spcPts val="400"/>
              </a:spcBef>
              <a:defRPr sz="1000">
                <a:solidFill>
                  <a:srgbClr val="94A3B8"/>
                </a:solidFill>
                <a:latin typeface="Segoe UI"/>
              </a:defRPr>
            </a:pPr>
            <a:r>
              <a:t>Victims submit live GPS pin, urgency category, and victim count from any mobile browser.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83296" y="4297680"/>
            <a:ext cx="3328416" cy="1600200"/>
          </a:xfrm>
          <a:prstGeom prst="roundRect">
            <a:avLst/>
          </a:prstGeom>
          <a:solidFill>
            <a:srgbClr val="121720"/>
          </a:solidFill>
          <a:ln w="12700">
            <a:solidFill>
              <a:srgbClr val="262C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11896" y="4434840"/>
            <a:ext cx="2871216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Segoe UI"/>
              </a:defRPr>
            </a:pPr>
            <a:r>
              <a:t>AUTONOMOUS 48H DATA CLEANUP</a:t>
            </a:r>
          </a:p>
          <a:p>
            <a:pPr>
              <a:spcBef>
                <a:spcPts val="400"/>
              </a:spcBef>
              <a:defRPr sz="1000">
                <a:solidFill>
                  <a:srgbClr val="94A3B8"/>
                </a:solidFill>
                <a:latin typeface="Segoe UI"/>
              </a:defRPr>
            </a:pPr>
            <a:r>
              <a:t>Native MongoDB TTL index auto-deletes closed emergency alerts after 48h without cron scripts.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2179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1F5F9"/>
                </a:solidFill>
                <a:latin typeface="Segoe UI"/>
              </a:defRPr>
            </a:pPr>
            <a:r>
              <a:t>Presented by: Bhupendra Sirvi  •  B.Tech Computer Science &amp; Engineering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64008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Segoe UI"/>
              </a:defRPr>
            </a:pPr>
            <a:r>
              <a:t>01 / CONTEXT &amp; CHALLENGE</a:t>
            </a:r>
          </a:p>
          <a:p>
            <a:pPr>
              <a:spcBef>
                <a:spcPts val="300"/>
              </a:spcBef>
              <a:defRPr sz="2200" b="1">
                <a:solidFill>
                  <a:srgbClr val="F1F5F9"/>
                </a:solidFill>
                <a:latin typeface="Segoe UI"/>
              </a:defRPr>
            </a:pPr>
            <a:r>
              <a:t>The Emergency Dispatch Latency Problem</a:t>
            </a:r>
          </a:p>
          <a:p>
            <a:pPr>
              <a:spcBef>
                <a:spcPts val="200"/>
              </a:spcBef>
              <a:defRPr sz="1150">
                <a:solidFill>
                  <a:srgbClr val="94A3B8"/>
                </a:solidFill>
                <a:latin typeface="Segoe UI"/>
              </a:defRPr>
            </a:pPr>
            <a:r>
              <a:t>Why traditional disaster response helplines struggle during large-scale urban calamities.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3328416" cy="3291840"/>
          </a:xfrm>
          <a:prstGeom prst="roundRect">
            <a:avLst/>
          </a:prstGeom>
          <a:solidFill>
            <a:srgbClr val="121720"/>
          </a:solidFill>
          <a:ln w="12700">
            <a:solidFill>
              <a:srgbClr val="262C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240280"/>
            <a:ext cx="2871216" cy="2834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43F5E"/>
                </a:solidFill>
                <a:latin typeface="Segoe UI"/>
              </a:defRPr>
            </a:pPr>
            <a:r>
              <a:t>01</a:t>
            </a:r>
          </a:p>
          <a:p>
            <a:pPr>
              <a:spcBef>
                <a:spcPts val="400"/>
              </a:spcBef>
              <a:defRPr sz="1350" b="1">
                <a:solidFill>
                  <a:srgbClr val="F1F5F9"/>
                </a:solidFill>
                <a:latin typeface="Segoe UI"/>
              </a:defRPr>
            </a:pPr>
            <a:r>
              <a:t>Slow Manual Phone Intake</a:t>
            </a:r>
          </a:p>
          <a:p>
            <a:pPr>
              <a:spcBef>
                <a:spcPts val="800"/>
              </a:spcBef>
              <a:defRPr sz="1050">
                <a:solidFill>
                  <a:srgbClr val="94A3B8"/>
                </a:solidFill>
                <a:latin typeface="Segoe UI"/>
              </a:defRPr>
            </a:pPr>
            <a:r>
              <a:t>Citizens dial emergency helplines where operators spend 5-10 minutes writing down landmarks over poor phone lines.</a:t>
            </a:r>
          </a:p>
          <a:p>
            <a:pPr>
              <a:spcBef>
                <a:spcPts val="1000"/>
              </a:spcBef>
              <a:defRPr sz="1000" b="1">
                <a:solidFill>
                  <a:srgbClr val="F43F5E"/>
                </a:solidFill>
                <a:latin typeface="Segoe UI"/>
              </a:defRPr>
            </a:pPr>
            <a:r>
              <a:t>• Result: Critical delay before any squad is even notified.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07408" y="2011680"/>
            <a:ext cx="3328416" cy="3291840"/>
          </a:xfrm>
          <a:prstGeom prst="roundRect">
            <a:avLst/>
          </a:prstGeom>
          <a:solidFill>
            <a:srgbClr val="121720"/>
          </a:solidFill>
          <a:ln w="12700">
            <a:solidFill>
              <a:srgbClr val="262C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36008" y="2240280"/>
            <a:ext cx="2871216" cy="2834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59E0B"/>
                </a:solidFill>
                <a:latin typeface="Segoe UI"/>
              </a:defRPr>
            </a:pPr>
            <a:r>
              <a:t>02</a:t>
            </a:r>
          </a:p>
          <a:p>
            <a:pPr>
              <a:spcBef>
                <a:spcPts val="400"/>
              </a:spcBef>
              <a:defRPr sz="1350" b="1">
                <a:solidFill>
                  <a:srgbClr val="F1F5F9"/>
                </a:solidFill>
                <a:latin typeface="Segoe UI"/>
              </a:defRPr>
            </a:pPr>
            <a:r>
              <a:t>Chronological vs Spatial Dispatch</a:t>
            </a:r>
          </a:p>
          <a:p>
            <a:pPr>
              <a:spcBef>
                <a:spcPts val="800"/>
              </a:spcBef>
              <a:defRPr sz="1050">
                <a:solidFill>
                  <a:srgbClr val="94A3B8"/>
                </a:solidFill>
                <a:latin typeface="Segoe UI"/>
              </a:defRPr>
            </a:pPr>
            <a:r>
              <a:t>Squads are dispatched in call arrival order (FIFO) rather than proximity. Teams are sent from 15 km away while closer units sit idle 400m away.</a:t>
            </a:r>
          </a:p>
          <a:p>
            <a:pPr>
              <a:spcBef>
                <a:spcPts val="1000"/>
              </a:spcBef>
              <a:defRPr sz="1000" b="1">
                <a:solidFill>
                  <a:srgbClr val="F59E0B"/>
                </a:solidFill>
                <a:latin typeface="Segoe UI"/>
              </a:defRPr>
            </a:pPr>
            <a:r>
              <a:t>• Result: Responders stuck in transit while victims wait.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83296" y="2011680"/>
            <a:ext cx="3328416" cy="3291840"/>
          </a:xfrm>
          <a:prstGeom prst="roundRect">
            <a:avLst/>
          </a:prstGeom>
          <a:solidFill>
            <a:srgbClr val="121720"/>
          </a:solidFill>
          <a:ln w="12700">
            <a:solidFill>
              <a:srgbClr val="262C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11896" y="2240280"/>
            <a:ext cx="2871216" cy="2834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38BDF8"/>
                </a:solidFill>
                <a:latin typeface="Segoe UI"/>
              </a:defRPr>
            </a:pPr>
            <a:r>
              <a:t>03</a:t>
            </a:r>
          </a:p>
          <a:p>
            <a:pPr>
              <a:spcBef>
                <a:spcPts val="400"/>
              </a:spcBef>
              <a:defRPr sz="1350" b="1">
                <a:solidFill>
                  <a:srgbClr val="F1F5F9"/>
                </a:solidFill>
                <a:latin typeface="Segoe UI"/>
              </a:defRPr>
            </a:pPr>
            <a:r>
              <a:t>The Critical 'Golden Hour'</a:t>
            </a:r>
          </a:p>
          <a:p>
            <a:pPr>
              <a:spcBef>
                <a:spcPts val="800"/>
              </a:spcBef>
              <a:defRPr sz="1050">
                <a:solidFill>
                  <a:srgbClr val="94A3B8"/>
                </a:solidFill>
                <a:latin typeface="Segoe UI"/>
              </a:defRPr>
            </a:pPr>
            <a:r>
              <a:t>In trauma and flood entrapment, survival chances drop drastically after the first 60 minutes.</a:t>
            </a:r>
          </a:p>
          <a:p>
            <a:pPr>
              <a:spcBef>
                <a:spcPts val="1000"/>
              </a:spcBef>
              <a:defRPr sz="1000" b="1">
                <a:solidFill>
                  <a:srgbClr val="38BDF8"/>
                </a:solidFill>
                <a:latin typeface="Segoe UI"/>
              </a:defRPr>
            </a:pPr>
            <a:r>
              <a:t>• Result: Relational SQL joins choke under concurrent spatial traffic.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623560"/>
            <a:ext cx="10698480" cy="731520"/>
          </a:xfrm>
          <a:prstGeom prst="roundRect">
            <a:avLst/>
          </a:prstGeom>
          <a:solidFill>
            <a:srgbClr val="0F171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7150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10B981"/>
                </a:solidFill>
                <a:latin typeface="Segoe UI"/>
              </a:defRPr>
            </a:pPr>
            <a:r>
              <a:t>CORE MISSION: How can we connect victims to the nearest squad in seconds using pure coordinate-based spatial search?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64008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Segoe UI"/>
              </a:defRPr>
            </a:pPr>
            <a:r>
              <a:t>02 / OBJECTIVES &amp; SOLUTION</a:t>
            </a:r>
          </a:p>
          <a:p>
            <a:pPr>
              <a:spcBef>
                <a:spcPts val="300"/>
              </a:spcBef>
              <a:defRPr sz="2200" b="1">
                <a:solidFill>
                  <a:srgbClr val="F1F5F9"/>
                </a:solidFill>
                <a:latin typeface="Segoe UI"/>
              </a:defRPr>
            </a:pPr>
            <a:r>
              <a:t>Project Objectives &amp; Core Capabilities</a:t>
            </a:r>
          </a:p>
          <a:p>
            <a:pPr>
              <a:spcBef>
                <a:spcPts val="200"/>
              </a:spcBef>
              <a:defRPr sz="1150">
                <a:solidFill>
                  <a:srgbClr val="94A3B8"/>
                </a:solidFill>
                <a:latin typeface="Segoe UI"/>
              </a:defRPr>
            </a:pPr>
            <a:r>
              <a:t>A fast, web-based platform that automates emergency dispatch using native MongoDB capabilities.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4572000" cy="4389120"/>
          </a:xfrm>
          <a:prstGeom prst="roundRect">
            <a:avLst/>
          </a:prstGeom>
          <a:solidFill>
            <a:srgbClr val="0F171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103120"/>
            <a:ext cx="41148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Segoe UI"/>
              </a:defRPr>
            </a:pPr>
            <a:r>
              <a:t>PRIMARY PROJECT GOAL</a:t>
            </a:r>
          </a:p>
          <a:p>
            <a:pPr>
              <a:spcBef>
                <a:spcPts val="600"/>
              </a:spcBef>
              <a:defRPr sz="1200" b="1">
                <a:solidFill>
                  <a:srgbClr val="F1F5F9"/>
                </a:solidFill>
                <a:latin typeface="Segoe UI"/>
              </a:defRPr>
            </a:pPr>
            <a:r>
              <a:t>To build a real-time emergency dispatch engine that uses MongoDB's built-in geospatial indexing to pair distress beacons with the nearest available rescue teams in less than 20 milliseconds.</a:t>
            </a:r>
          </a:p>
          <a:p>
            <a:pPr>
              <a:spcBef>
                <a:spcPts val="1000"/>
              </a:spcBef>
              <a:defRPr sz="1100" b="1">
                <a:solidFill>
                  <a:srgbClr val="38BDF8"/>
                </a:solidFill>
                <a:latin typeface="Segoe UI"/>
              </a:defRPr>
            </a:pPr>
            <a:r>
              <a:t>Key Engineering Pillars:</a:t>
            </a:r>
          </a:p>
          <a:p>
            <a:pPr>
              <a:spcBef>
                <a:spcPts val="500"/>
              </a:spcBef>
              <a:defRPr sz="1000">
                <a:solidFill>
                  <a:srgbClr val="94A3B8"/>
                </a:solidFill>
                <a:latin typeface="Segoe UI"/>
              </a:defRPr>
            </a:pPr>
            <a:r>
              <a:t>• Sub-20ms Proximity Matching via native $geoNear pipeline.</a:t>
            </a:r>
          </a:p>
          <a:p>
            <a:pPr>
              <a:spcBef>
                <a:spcPts val="500"/>
              </a:spcBef>
              <a:defRPr sz="1000">
                <a:solidFill>
                  <a:srgbClr val="94A3B8"/>
                </a:solidFill>
                <a:latin typeface="Segoe UI"/>
              </a:defRPr>
            </a:pPr>
            <a:r>
              <a:t>• Zero Message Broker Dependency (No Redis/Kafka needed).</a:t>
            </a:r>
          </a:p>
          <a:p>
            <a:pPr>
              <a:spcBef>
                <a:spcPts val="500"/>
              </a:spcBef>
              <a:defRPr sz="1000">
                <a:solidFill>
                  <a:srgbClr val="94A3B8"/>
                </a:solidFill>
                <a:latin typeface="Segoe UI"/>
              </a:defRPr>
            </a:pPr>
            <a:r>
              <a:t>• Autonomous 48h Database Cleanup via native TTL index.</a:t>
            </a:r>
          </a:p>
          <a:p>
            <a:pPr>
              <a:spcBef>
                <a:spcPts val="500"/>
              </a:spcBef>
              <a:defRPr sz="1000">
                <a:solidFill>
                  <a:srgbClr val="94A3B8"/>
                </a:solidFill>
                <a:latin typeface="Segoe UI"/>
              </a:defRPr>
            </a:pPr>
            <a:r>
              <a:t>• Dynamic Backup Team Creation for unstaffed perimeters.</a:t>
            </a:r>
          </a:p>
          <a:p>
            <a:pPr>
              <a:spcBef>
                <a:spcPts val="500"/>
              </a:spcBef>
              <a:defRPr sz="1000">
                <a:solidFill>
                  <a:srgbClr val="94A3B8"/>
                </a:solidFill>
                <a:latin typeface="Segoe UI"/>
              </a:defRPr>
            </a:pPr>
            <a:r>
              <a:t>• Simple, resilient architecture: Node.js + Express + MongoDB.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577840" y="1920240"/>
            <a:ext cx="5852160" cy="960120"/>
          </a:xfrm>
          <a:prstGeom prst="roundRect">
            <a:avLst/>
          </a:prstGeom>
          <a:solidFill>
            <a:srgbClr val="121720"/>
          </a:solidFill>
          <a:ln w="12700">
            <a:solidFill>
              <a:srgbClr val="262C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715000" y="2084832"/>
            <a:ext cx="54864" cy="63093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97880" y="2057400"/>
            <a:ext cx="5349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F1F5F9"/>
                </a:solidFill>
                <a:latin typeface="Segoe UI"/>
              </a:defRPr>
            </a:pPr>
            <a:r>
              <a:t>1. One-Tap Citizen SOS Beacon</a:t>
            </a:r>
          </a:p>
          <a:p>
            <a:pPr>
              <a:spcBef>
                <a:spcPts val="200"/>
              </a:spcBef>
              <a:defRPr sz="950">
                <a:solidFill>
                  <a:srgbClr val="94A3B8"/>
                </a:solidFill>
                <a:latin typeface="Segoe UI"/>
              </a:defRPr>
            </a:pPr>
            <a:r>
              <a:t>Citizens transmit exact GPS pin, category (Medical/Flood/Fire), and casualty count in 1 tap.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577840" y="3063240"/>
            <a:ext cx="5852160" cy="960120"/>
          </a:xfrm>
          <a:prstGeom prst="roundRect">
            <a:avLst/>
          </a:prstGeom>
          <a:solidFill>
            <a:srgbClr val="121720"/>
          </a:solidFill>
          <a:ln w="12700">
            <a:solidFill>
              <a:srgbClr val="262C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715000" y="3227832"/>
            <a:ext cx="54864" cy="63093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97880" y="3200400"/>
            <a:ext cx="5349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F1F5F9"/>
                </a:solidFill>
                <a:latin typeface="Segoe UI"/>
              </a:defRPr>
            </a:pPr>
            <a:r>
              <a:t>2. Sub-20ms Proximity Search ($geoNear)</a:t>
            </a:r>
          </a:p>
          <a:p>
            <a:pPr>
              <a:spcBef>
                <a:spcPts val="200"/>
              </a:spcBef>
              <a:defRPr sz="950">
                <a:solidFill>
                  <a:srgbClr val="94A3B8"/>
                </a:solidFill>
                <a:latin typeface="Segoe UI"/>
              </a:defRPr>
            </a:pPr>
            <a:r>
              <a:t>MongoDB evaluates spherical Earth curvature and returns closest teams within 15 km instantly.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577840" y="4206240"/>
            <a:ext cx="5852160" cy="960120"/>
          </a:xfrm>
          <a:prstGeom prst="roundRect">
            <a:avLst/>
          </a:prstGeom>
          <a:solidFill>
            <a:srgbClr val="121720"/>
          </a:solidFill>
          <a:ln w="12700">
            <a:solidFill>
              <a:srgbClr val="262C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715000" y="4370832"/>
            <a:ext cx="54864" cy="63093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97880" y="4343400"/>
            <a:ext cx="5349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F1F5F9"/>
                </a:solidFill>
                <a:latin typeface="Segoe UI"/>
              </a:defRPr>
            </a:pPr>
            <a:r>
              <a:t>3. Autonomous 48-Hour TTL Self-Cleaning</a:t>
            </a:r>
          </a:p>
          <a:p>
            <a:pPr>
              <a:spcBef>
                <a:spcPts val="200"/>
              </a:spcBef>
              <a:defRPr sz="950">
                <a:solidFill>
                  <a:srgbClr val="94A3B8"/>
                </a:solidFill>
                <a:latin typeface="Segoe UI"/>
              </a:defRPr>
            </a:pPr>
            <a:r>
              <a:t>Resolved emergency records automatically delete after 48h without needing manual cron tasks.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577840" y="5349240"/>
            <a:ext cx="5852160" cy="960120"/>
          </a:xfrm>
          <a:prstGeom prst="roundRect">
            <a:avLst/>
          </a:prstGeom>
          <a:solidFill>
            <a:srgbClr val="121720"/>
          </a:solidFill>
          <a:ln w="12700">
            <a:solidFill>
              <a:srgbClr val="262C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715000" y="5513832"/>
            <a:ext cx="54864" cy="63093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97880" y="5486400"/>
            <a:ext cx="5349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F1F5F9"/>
                </a:solidFill>
                <a:latin typeface="Segoe UI"/>
              </a:defRPr>
            </a:pPr>
            <a:r>
              <a:t>4. Hyperlocal Squad Auto-Provisioning</a:t>
            </a:r>
          </a:p>
          <a:p>
            <a:pPr>
              <a:spcBef>
                <a:spcPts val="200"/>
              </a:spcBef>
              <a:defRPr sz="950">
                <a:solidFill>
                  <a:srgbClr val="94A3B8"/>
                </a:solidFill>
                <a:latin typeface="Segoe UI"/>
              </a:defRPr>
            </a:pPr>
            <a:r>
              <a:t>Dynamically commissions a local volunteer squad if no unit is within 15 km, leaving 0 victims waiting.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64008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Segoe UI"/>
              </a:defRPr>
            </a:pPr>
            <a:r>
              <a:t>03 / ENGINEERING DESIGN</a:t>
            </a:r>
          </a:p>
          <a:p>
            <a:pPr>
              <a:spcBef>
                <a:spcPts val="300"/>
              </a:spcBef>
              <a:defRPr sz="2200" b="1">
                <a:solidFill>
                  <a:srgbClr val="F1F5F9"/>
                </a:solidFill>
                <a:latin typeface="Segoe UI"/>
              </a:defRPr>
            </a:pPr>
            <a:r>
              <a:t>System Architecture &amp; Technology Stack</a:t>
            </a:r>
          </a:p>
          <a:p>
            <a:pPr>
              <a:spcBef>
                <a:spcPts val="200"/>
              </a:spcBef>
              <a:defRPr sz="1150">
                <a:solidFill>
                  <a:srgbClr val="94A3B8"/>
                </a:solidFill>
                <a:latin typeface="Segoe UI"/>
              </a:defRPr>
            </a:pPr>
            <a:r>
              <a:t>A streamlined 3-tier architecture built with modern, battle-tested open-source tools.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3328416" cy="4297680"/>
          </a:xfrm>
          <a:prstGeom prst="roundRect">
            <a:avLst/>
          </a:prstGeom>
          <a:solidFill>
            <a:srgbClr val="121720"/>
          </a:solidFill>
          <a:ln w="12700">
            <a:solidFill>
              <a:srgbClr val="262C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194560"/>
            <a:ext cx="2871216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Segoe UI"/>
              </a:defRPr>
            </a:pPr>
            <a:r>
              <a:t>PRESENTATION LAYER</a:t>
            </a:r>
          </a:p>
          <a:p>
            <a:pPr>
              <a:spcBef>
                <a:spcPts val="300"/>
              </a:spcBef>
              <a:defRPr sz="1400" b="1">
                <a:solidFill>
                  <a:srgbClr val="F1F5F9"/>
                </a:solidFill>
                <a:latin typeface="Segoe UI"/>
              </a:defRPr>
            </a:pPr>
            <a:r>
              <a:t>Frontend Console</a:t>
            </a:r>
          </a:p>
          <a:p>
            <a:pPr>
              <a:spcBef>
                <a:spcPts val="800"/>
              </a:spcBef>
              <a:defRPr sz="1000">
                <a:solidFill>
                  <a:srgbClr val="94A3B8"/>
                </a:solidFill>
                <a:latin typeface="Segoe UI"/>
              </a:defRPr>
            </a:pPr>
            <a:r>
              <a:t>• HTML5 &amp; Tailwind CSS for lightweight, zero-bloat UI.</a:t>
            </a:r>
            <a:br/>
            <a:r>
              <a:t>• Leaflet.js with Esri Dark Canvas for high-contrast map.</a:t>
            </a:r>
            <a:br/>
            <a:r>
              <a:t>• Dual Views: Citizen SOS Form &amp; Dispatcher Command Map.</a:t>
            </a:r>
            <a:br/>
            <a:r>
              <a:t>• Keyboard navigation: [/] search, [J/K] navigate, [M] match.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07408" y="2011680"/>
            <a:ext cx="3328416" cy="4297680"/>
          </a:xfrm>
          <a:prstGeom prst="roundRect">
            <a:avLst/>
          </a:prstGeom>
          <a:solidFill>
            <a:srgbClr val="121720"/>
          </a:solidFill>
          <a:ln w="12700">
            <a:solidFill>
              <a:srgbClr val="262C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36008" y="2194560"/>
            <a:ext cx="2871216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Segoe UI"/>
              </a:defRPr>
            </a:pPr>
            <a:r>
              <a:t>APPLICATION LAYER</a:t>
            </a:r>
          </a:p>
          <a:p>
            <a:pPr>
              <a:spcBef>
                <a:spcPts val="300"/>
              </a:spcBef>
              <a:defRPr sz="1400" b="1">
                <a:solidFill>
                  <a:srgbClr val="F1F5F9"/>
                </a:solidFill>
                <a:latin typeface="Segoe UI"/>
              </a:defRPr>
            </a:pPr>
            <a:r>
              <a:t>Node.js &amp; Express API</a:t>
            </a:r>
          </a:p>
          <a:p>
            <a:pPr>
              <a:spcBef>
                <a:spcPts val="800"/>
              </a:spcBef>
              <a:defRPr sz="1000">
                <a:solidFill>
                  <a:srgbClr val="94A3B8"/>
                </a:solidFill>
                <a:latin typeface="Segoe UI"/>
              </a:defRPr>
            </a:pPr>
            <a:r>
              <a:t>• Fast, asynchronous non-blocking REST API server on Port 5000.</a:t>
            </a:r>
            <a:br/>
            <a:r>
              <a:t>• Routes: /api/incidents, /api/responders, /api/match, /api/resolve.</a:t>
            </a:r>
            <a:br/>
            <a:r>
              <a:t>• Hosts static frontend assets directly (no Apache/Nginx required).</a:t>
            </a:r>
            <a:br/>
            <a:r>
              <a:t>• Connects directly to MongoDB via official native driver.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83296" y="2011680"/>
            <a:ext cx="3328416" cy="4297680"/>
          </a:xfrm>
          <a:prstGeom prst="roundRect">
            <a:avLst/>
          </a:prstGeom>
          <a:solidFill>
            <a:srgbClr val="121720"/>
          </a:solidFill>
          <a:ln w="12700">
            <a:solidFill>
              <a:srgbClr val="262C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11896" y="2194560"/>
            <a:ext cx="2871216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  <a:latin typeface="Segoe UI"/>
              </a:defRPr>
            </a:pPr>
            <a:r>
              <a:t>DATA &amp; GEOSPATIAL LAYER</a:t>
            </a:r>
          </a:p>
          <a:p>
            <a:pPr>
              <a:spcBef>
                <a:spcPts val="300"/>
              </a:spcBef>
              <a:defRPr sz="1400" b="1">
                <a:solidFill>
                  <a:srgbClr val="F1F5F9"/>
                </a:solidFill>
                <a:latin typeface="Segoe UI"/>
              </a:defRPr>
            </a:pPr>
            <a:r>
              <a:t>MongoDB NoSQL Engine</a:t>
            </a:r>
          </a:p>
          <a:p>
            <a:pPr>
              <a:spcBef>
                <a:spcPts val="800"/>
              </a:spcBef>
              <a:defRPr sz="1000">
                <a:solidFill>
                  <a:srgbClr val="94A3B8"/>
                </a:solidFill>
                <a:latin typeface="Segoe UI"/>
              </a:defRPr>
            </a:pPr>
            <a:r>
              <a:t>• Native 2dsphere indexes for coordinate storage and spatial search.</a:t>
            </a:r>
            <a:br/>
            <a:r>
              <a:t>• Aggregation Pipeline ($geoNear) computes distances in ~14ms.</a:t>
            </a:r>
            <a:br/>
            <a:r>
              <a:t>• Native TTL index automatically purges resolved records after 48h.</a:t>
            </a:r>
            <a:br/>
            <a:r>
              <a:t>• Flexible BSON documents: zero schema migrations during crises.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64008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Segoe UI"/>
              </a:defRPr>
            </a:pPr>
            <a:r>
              <a:t>04 / DATABASE DESIGN</a:t>
            </a:r>
          </a:p>
          <a:p>
            <a:pPr>
              <a:spcBef>
                <a:spcPts val="300"/>
              </a:spcBef>
              <a:defRPr sz="2200" b="1">
                <a:solidFill>
                  <a:srgbClr val="F1F5F9"/>
                </a:solidFill>
                <a:latin typeface="Segoe UI"/>
              </a:defRPr>
            </a:pPr>
            <a:r>
              <a:t>The 3 MongoDB Collections</a:t>
            </a:r>
          </a:p>
          <a:p>
            <a:pPr>
              <a:spcBef>
                <a:spcPts val="200"/>
              </a:spcBef>
              <a:defRPr sz="1150">
                <a:solidFill>
                  <a:srgbClr val="94A3B8"/>
                </a:solidFill>
                <a:latin typeface="Segoe UI"/>
              </a:defRPr>
            </a:pPr>
            <a:r>
              <a:t>Simple, flexible BSON documents that power real-time coordinate search and status tracking.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3328416" cy="4297680"/>
          </a:xfrm>
          <a:prstGeom prst="roundRect">
            <a:avLst/>
          </a:prstGeom>
          <a:solidFill>
            <a:srgbClr val="121720"/>
          </a:solidFill>
          <a:ln w="12700">
            <a:solidFill>
              <a:srgbClr val="262C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48840"/>
            <a:ext cx="2962656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43F5E"/>
                </a:solidFill>
                <a:latin typeface="Consolas"/>
              </a:defRPr>
            </a:pPr>
            <a:r>
              <a:t>db.incidents</a:t>
            </a:r>
          </a:p>
          <a:p>
            <a:pPr>
              <a:spcBef>
                <a:spcPts val="200"/>
              </a:spcBef>
              <a:defRPr sz="1000">
                <a:solidFill>
                  <a:srgbClr val="F1F5F9"/>
                </a:solidFill>
                <a:latin typeface="Segoe UI"/>
              </a:defRPr>
            </a:pPr>
            <a:r>
              <a:t>Emergency Calls / Distress Beacons</a:t>
            </a:r>
          </a:p>
          <a:p>
            <a:pPr>
              <a:spcBef>
                <a:spcPts val="600"/>
              </a:spcBef>
              <a:defRPr sz="850">
                <a:solidFill>
                  <a:srgbClr val="94A3B8"/>
                </a:solidFill>
                <a:latin typeface="Consolas"/>
              </a:defRPr>
            </a:pPr>
            <a:r>
              <a:t>Stores citizen SOS reports with coordinates, urgency, casualty count, and status.</a:t>
            </a:r>
            <a:br/>
            <a:br/>
            <a:r>
              <a:t>Sample Document:</a:t>
            </a:r>
            <a:br/>
            <a:r>
              <a:t>{</a:t>
            </a:r>
            <a:br/>
            <a:r>
              <a:t>  id: 'SOS-104',</a:t>
            </a:r>
            <a:br/>
            <a:r>
              <a:t>  caller: 'Kavita Sharma',</a:t>
            </a:r>
            <a:br/>
            <a:r>
              <a:t>  category: 'Medical / Trauma',</a:t>
            </a:r>
            <a:br/>
            <a:r>
              <a:t>  severity: 'CRITICAL', victims: 2,</a:t>
            </a:r>
            <a:br/>
            <a:r>
              <a:t>  location: { type: 'Point', coordinates: [75.7050, 31.2555] },</a:t>
            </a:r>
            <a:br/>
            <a:r>
              <a:t>  status: 'OPEN', assignedTo: null,</a:t>
            </a:r>
            <a:br/>
            <a:r>
              <a:t>  resolvedAt: null</a:t>
            </a:r>
            <a:br/>
            <a:r>
              <a:t>}</a:t>
            </a:r>
          </a:p>
          <a:p>
            <a:pPr>
              <a:spcBef>
                <a:spcPts val="800"/>
              </a:spcBef>
              <a:defRPr sz="950" b="1">
                <a:solidFill>
                  <a:srgbClr val="F43F5E"/>
                </a:solidFill>
                <a:latin typeface="Segoe UI"/>
              </a:defRPr>
            </a:pPr>
            <a:r>
              <a:t>• Indexes: 2dsphere on location, TTL on resolvedAt (48h)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07408" y="2011680"/>
            <a:ext cx="3328416" cy="4297680"/>
          </a:xfrm>
          <a:prstGeom prst="roundRect">
            <a:avLst/>
          </a:prstGeom>
          <a:solidFill>
            <a:srgbClr val="121720"/>
          </a:solidFill>
          <a:ln w="12700">
            <a:solidFill>
              <a:srgbClr val="262C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90288" y="2148840"/>
            <a:ext cx="2962656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Consolas"/>
              </a:defRPr>
            </a:pPr>
            <a:r>
              <a:t>db.responders</a:t>
            </a:r>
          </a:p>
          <a:p>
            <a:pPr>
              <a:spcBef>
                <a:spcPts val="200"/>
              </a:spcBef>
              <a:defRPr sz="1000">
                <a:solidFill>
                  <a:srgbClr val="F1F5F9"/>
                </a:solidFill>
                <a:latin typeface="Segoe UI"/>
              </a:defRPr>
            </a:pPr>
            <a:r>
              <a:t>Rescue Squads &amp; Mobile Fleet</a:t>
            </a:r>
          </a:p>
          <a:p>
            <a:pPr>
              <a:spcBef>
                <a:spcPts val="600"/>
              </a:spcBef>
              <a:defRPr sz="850">
                <a:solidFill>
                  <a:srgbClr val="94A3B8"/>
                </a:solidFill>
                <a:latin typeface="Consolas"/>
              </a:defRPr>
            </a:pPr>
            <a:r>
              <a:t>Stores active rescue units, ambulances, water boats, and NDRF teams.</a:t>
            </a:r>
            <a:br/>
            <a:br/>
            <a:r>
              <a:t>Sample Document:</a:t>
            </a:r>
            <a:br/>
            <a:r>
              <a:t>{</a:t>
            </a:r>
            <a:br/>
            <a:r>
              <a:t>  id: 'R-PB1',</a:t>
            </a:r>
            <a:br/>
            <a:r>
              <a:t>  name: 'LPU Quick Response Squad',</a:t>
            </a:r>
            <a:br/>
            <a:r>
              <a:t>  type: 'Rescue Team',</a:t>
            </a:r>
            <a:br/>
            <a:r>
              <a:t>  status: 'Available',</a:t>
            </a:r>
            <a:br/>
            <a:r>
              <a:t>  contact: '+91 98761-11001',</a:t>
            </a:r>
            <a:br/>
            <a:r>
              <a:t>  location: { type: 'Point', coordinates: [75.7045, 31.2560] }</a:t>
            </a:r>
            <a:br/>
            <a:r>
              <a:t>}</a:t>
            </a:r>
          </a:p>
          <a:p>
            <a:pPr>
              <a:spcBef>
                <a:spcPts val="800"/>
              </a:spcBef>
              <a:defRPr sz="950" b="1">
                <a:solidFill>
                  <a:srgbClr val="38BDF8"/>
                </a:solidFill>
                <a:latin typeface="Segoe UI"/>
              </a:defRPr>
            </a:pPr>
            <a:r>
              <a:t>• Index: 2dsphere on location (for $geoNear queries)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83296" y="2011680"/>
            <a:ext cx="3328416" cy="4297680"/>
          </a:xfrm>
          <a:prstGeom prst="roundRect">
            <a:avLst/>
          </a:prstGeom>
          <a:solidFill>
            <a:srgbClr val="121720"/>
          </a:solidFill>
          <a:ln w="12700">
            <a:solidFill>
              <a:srgbClr val="262C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66176" y="2148840"/>
            <a:ext cx="2962656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Consolas"/>
              </a:defRPr>
            </a:pPr>
            <a:r>
              <a:t>db.shelters</a:t>
            </a:r>
          </a:p>
          <a:p>
            <a:pPr>
              <a:spcBef>
                <a:spcPts val="200"/>
              </a:spcBef>
              <a:defRPr sz="1000">
                <a:solidFill>
                  <a:srgbClr val="F1F5F9"/>
                </a:solidFill>
                <a:latin typeface="Segoe UI"/>
              </a:defRPr>
            </a:pPr>
            <a:r>
              <a:t>Relief Centers &amp; Safe Hubs</a:t>
            </a:r>
          </a:p>
          <a:p>
            <a:pPr>
              <a:spcBef>
                <a:spcPts val="600"/>
              </a:spcBef>
              <a:defRPr sz="850">
                <a:solidFill>
                  <a:srgbClr val="94A3B8"/>
                </a:solidFill>
                <a:latin typeface="Consolas"/>
              </a:defRPr>
            </a:pPr>
            <a:r>
              <a:t>Stores evacuation centers, indoor stadiums, and hospital triage tents.</a:t>
            </a:r>
            <a:br/>
            <a:br/>
            <a:r>
              <a:t>Sample Document:</a:t>
            </a:r>
            <a:br/>
            <a:r>
              <a:t>{</a:t>
            </a:r>
            <a:br/>
            <a:r>
              <a:t>  id: 'S-PB1',</a:t>
            </a:r>
            <a:br/>
            <a:r>
              <a:t>  name: 'LPU Stadium Relief Center',</a:t>
            </a:r>
            <a:br/>
            <a:r>
              <a:t>  capacity: '250/500 Beds',</a:t>
            </a:r>
            <a:br/>
            <a:r>
              <a:t>  phone: '01824-510001',</a:t>
            </a:r>
            <a:br/>
            <a:r>
              <a:t>  location: { type: 'Point', coordinates: [75.7020, 31.2540] }</a:t>
            </a:r>
            <a:br/>
            <a:r>
              <a:t>}</a:t>
            </a:r>
          </a:p>
          <a:p>
            <a:pPr>
              <a:spcBef>
                <a:spcPts val="800"/>
              </a:spcBef>
              <a:defRPr sz="950" b="1">
                <a:solidFill>
                  <a:srgbClr val="10B981"/>
                </a:solidFill>
                <a:latin typeface="Segoe UI"/>
              </a:defRPr>
            </a:pPr>
            <a:r>
              <a:t>• Index: 2dsphere on location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64008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Segoe UI"/>
              </a:defRPr>
            </a:pPr>
            <a:r>
              <a:t>05 / CORE ALGORITHM</a:t>
            </a:r>
          </a:p>
          <a:p>
            <a:pPr>
              <a:spcBef>
                <a:spcPts val="300"/>
              </a:spcBef>
              <a:defRPr sz="2200" b="1">
                <a:solidFill>
                  <a:srgbClr val="F1F5F9"/>
                </a:solidFill>
                <a:latin typeface="Segoe UI"/>
              </a:defRPr>
            </a:pPr>
            <a:r>
              <a:t>Sub-20ms Proximity Matching ($geoNear)</a:t>
            </a:r>
          </a:p>
          <a:p>
            <a:pPr>
              <a:spcBef>
                <a:spcPts val="200"/>
              </a:spcBef>
              <a:defRPr sz="1150">
                <a:solidFill>
                  <a:srgbClr val="94A3B8"/>
                </a:solidFill>
                <a:latin typeface="Segoe UI"/>
              </a:defRPr>
            </a:pPr>
            <a:r>
              <a:t>How MongoDB calculates the closest responder over the Earth's curvature in a single query.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5486400" cy="4389120"/>
          </a:xfrm>
          <a:prstGeom prst="roundRect">
            <a:avLst/>
          </a:prstGeom>
          <a:solidFill>
            <a:srgbClr val="121720"/>
          </a:solidFill>
          <a:ln w="12700">
            <a:solidFill>
              <a:srgbClr val="262C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57400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10B981"/>
                </a:solidFill>
                <a:latin typeface="Segoe UI"/>
              </a:defRPr>
            </a:pPr>
            <a:r>
              <a:t>MONGODB AGGREGATION PIPELINE</a:t>
            </a:r>
          </a:p>
          <a:p>
            <a:pPr>
              <a:spcBef>
                <a:spcPts val="600"/>
              </a:spcBef>
              <a:defRPr sz="950">
                <a:solidFill>
                  <a:srgbClr val="38BDF8"/>
                </a:solidFill>
                <a:latin typeface="Consolas"/>
              </a:defRPr>
            </a:pPr>
            <a:r>
              <a:t>// Executed inside server.js on /api/match</a:t>
            </a:r>
            <a:br/>
            <a:r>
              <a:t>const pipeline = [</a:t>
            </a:r>
            <a:br/>
            <a:r>
              <a:t>  {</a:t>
            </a:r>
            <a:br/>
            <a:r>
              <a:t>    $geoNear: {</a:t>
            </a:r>
            <a:br/>
            <a:r>
              <a:t>      near: {</a:t>
            </a:r>
            <a:br/>
            <a:r>
              <a:t>        type: 'Point',</a:t>
            </a:r>
            <a:br/>
            <a:r>
              <a:t>        coordinates: [incidentLng, incidentLat]</a:t>
            </a:r>
            <a:br/>
            <a:r>
              <a:t>      },</a:t>
            </a:r>
            <a:br/>
            <a:r>
              <a:t>      distanceField: 'distanceMeters',</a:t>
            </a:r>
            <a:br/>
            <a:r>
              <a:t>      spherical: true,       // Earth curvature</a:t>
            </a:r>
            <a:br/>
            <a:r>
              <a:t>      maxDistance: 15000,    // 15 km search radius</a:t>
            </a:r>
            <a:br/>
            <a:r>
              <a:t>      query: { status: 'Available' }</a:t>
            </a:r>
            <a:br/>
            <a:r>
              <a:t>    }</a:t>
            </a:r>
            <a:br/>
            <a:r>
              <a:t>  },</a:t>
            </a:r>
            <a:br/>
            <a:r>
              <a:t>  { $limit: 3 } // Top 3 closest units with ETAs</a:t>
            </a:r>
            <a:br/>
            <a:r>
              <a:t>];</a:t>
            </a:r>
            <a:br/>
            <a:br/>
            <a:r>
              <a:t>const nearest = await db.collection('responders')</a:t>
            </a:r>
            <a:br/>
            <a:r>
              <a:t>  .aggregate(pipeline).toArray();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92240" y="1920240"/>
            <a:ext cx="4937760" cy="2057400"/>
          </a:xfrm>
          <a:prstGeom prst="roundRect">
            <a:avLst/>
          </a:prstGeom>
          <a:solidFill>
            <a:srgbClr val="121720"/>
          </a:solidFill>
          <a:ln w="12700">
            <a:solidFill>
              <a:srgbClr val="262C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20840" y="2057400"/>
            <a:ext cx="44805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Segoe UI"/>
              </a:defRPr>
            </a:pPr>
            <a:r>
              <a:t>WHY THIS BEATS TRADITIONAL SQL</a:t>
            </a:r>
          </a:p>
          <a:p>
            <a:pPr>
              <a:spcBef>
                <a:spcPts val="400"/>
              </a:spcBef>
              <a:defRPr sz="1000">
                <a:solidFill>
                  <a:srgbClr val="94A3B8"/>
                </a:solidFill>
                <a:latin typeface="Segoe UI"/>
              </a:defRPr>
            </a:pPr>
            <a:r>
              <a:t>• Traditional SQL requires fetching all squads into Node.js and running slow trigonometry math loops in code.</a:t>
            </a:r>
            <a:br/>
            <a:r>
              <a:t>• MongoDB's S2 engine indexes the Earth into hierarchical cells, evaluating distances directly in C++.</a:t>
            </a:r>
            <a:br/>
            <a:r>
              <a:t>• Response time: Measured at 14.2 milliseconds!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0" y="4206240"/>
            <a:ext cx="4937760" cy="2103120"/>
          </a:xfrm>
          <a:prstGeom prst="roundRect">
            <a:avLst/>
          </a:prstGeom>
          <a:solidFill>
            <a:srgbClr val="121720"/>
          </a:solidFill>
          <a:ln w="12700">
            <a:solidFill>
              <a:srgbClr val="262C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20840" y="4343400"/>
            <a:ext cx="4480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Segoe UI"/>
              </a:defRPr>
            </a:pPr>
            <a:r>
              <a:t>DYNAMIC FALLBACK AUTO-PROVISIONING</a:t>
            </a:r>
          </a:p>
          <a:p>
            <a:pPr>
              <a:spcBef>
                <a:spcPts val="400"/>
              </a:spcBef>
              <a:defRPr sz="1000">
                <a:solidFill>
                  <a:srgbClr val="94A3B8"/>
                </a:solidFill>
                <a:latin typeface="Segoe UI"/>
              </a:defRPr>
            </a:pPr>
            <a:r>
              <a:t>• What happens if an emergency occurs in an unstaffed area with zero squads within 15 km?</a:t>
            </a:r>
            <a:br/>
            <a:r>
              <a:t>• GeoPulse automatically creates a Local Community Rapid Unit ~900m away, adds it to MongoDB, and dispatches it.</a:t>
            </a:r>
            <a:br/>
            <a:r>
              <a:t>• Zero victims are ever left unattended.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64008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Segoe UI"/>
              </a:defRPr>
            </a:pPr>
            <a:r>
              <a:t>06 / USER EXPERIENCE</a:t>
            </a:r>
          </a:p>
          <a:p>
            <a:pPr>
              <a:spcBef>
                <a:spcPts val="300"/>
              </a:spcBef>
              <a:defRPr sz="2200" b="1">
                <a:solidFill>
                  <a:srgbClr val="F1F5F9"/>
                </a:solidFill>
                <a:latin typeface="Segoe UI"/>
              </a:defRPr>
            </a:pPr>
            <a:r>
              <a:t>Dual-Console Interface &amp; Dispatch Workflow</a:t>
            </a:r>
          </a:p>
          <a:p>
            <a:pPr>
              <a:spcBef>
                <a:spcPts val="200"/>
              </a:spcBef>
              <a:defRPr sz="1150">
                <a:solidFill>
                  <a:srgbClr val="94A3B8"/>
                </a:solidFill>
                <a:latin typeface="Segoe UI"/>
              </a:defRPr>
            </a:pPr>
            <a:r>
              <a:t>Designed for ease of use by both citizens in panic and dispatchers under pressure.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3328416" cy="4297680"/>
          </a:xfrm>
          <a:prstGeom prst="roundRect">
            <a:avLst/>
          </a:prstGeom>
          <a:solidFill>
            <a:srgbClr val="121720"/>
          </a:solidFill>
          <a:ln w="12700">
            <a:solidFill>
              <a:srgbClr val="262C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194560"/>
            <a:ext cx="2871216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F43F5E"/>
                </a:solidFill>
                <a:latin typeface="Segoe UI"/>
              </a:defRPr>
            </a:pPr>
            <a:r>
              <a:t>Citizen SOS Portal</a:t>
            </a:r>
          </a:p>
          <a:p>
            <a:pPr>
              <a:spcBef>
                <a:spcPts val="800"/>
              </a:spcBef>
              <a:defRPr sz="1000">
                <a:solidFill>
                  <a:srgbClr val="94A3B8"/>
                </a:solidFill>
                <a:latin typeface="Segoe UI"/>
              </a:defRPr>
            </a:pPr>
            <a:r>
              <a:t>• One-tap 'Use My GPS' locks mobile coordinates in seconds.</a:t>
            </a:r>
            <a:br/>
            <a:r>
              <a:t>• Category selector: Medical, Flood, Fire, Supplies.</a:t>
            </a:r>
            <a:br/>
            <a:r>
              <a:t>• Urgency level (Critical, Urgent, Standard) &amp; casualty slider.</a:t>
            </a:r>
            <a:br/>
            <a:r>
              <a:t>• Plain English situation note input.</a:t>
            </a:r>
            <a:br/>
            <a:r>
              <a:t>• Transmits to MongoDB in &lt;30ms.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07408" y="2011680"/>
            <a:ext cx="3328416" cy="4297680"/>
          </a:xfrm>
          <a:prstGeom prst="roundRect">
            <a:avLst/>
          </a:prstGeom>
          <a:solidFill>
            <a:srgbClr val="121720"/>
          </a:solidFill>
          <a:ln w="12700">
            <a:solidFill>
              <a:srgbClr val="262C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36008" y="2194560"/>
            <a:ext cx="2871216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38BDF8"/>
                </a:solidFill>
                <a:latin typeface="Segoe UI"/>
              </a:defRPr>
            </a:pPr>
            <a:r>
              <a:t>Dispatcher Command Map</a:t>
            </a:r>
          </a:p>
          <a:p>
            <a:pPr>
              <a:spcBef>
                <a:spcPts val="800"/>
              </a:spcBef>
              <a:defRPr sz="1000">
                <a:solidFill>
                  <a:srgbClr val="94A3B8"/>
                </a:solidFill>
                <a:latin typeface="Segoe UI"/>
              </a:defRPr>
            </a:pPr>
            <a:r>
              <a:t>• High-contrast dark cartography for high-stress operations.</a:t>
            </a:r>
            <a:br/>
            <a:r>
              <a:t>• Color-coded cards: Red (Action Needed), Blue (En Route), Green (Resolved).</a:t>
            </a:r>
            <a:br/>
            <a:r>
              <a:t>• Smart Report Stacking: Groups duplicate calls (e.g. 'x3 reports').</a:t>
            </a:r>
            <a:br/>
            <a:r>
              <a:t>• Interactive hover tooltips showing squad status &amp; victim info.</a:t>
            </a:r>
            <a:br/>
            <a:r>
              <a:t>• Blue route vectors connect victims to assigned teams.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83296" y="2011680"/>
            <a:ext cx="3328416" cy="4297680"/>
          </a:xfrm>
          <a:prstGeom prst="roundRect">
            <a:avLst/>
          </a:prstGeom>
          <a:solidFill>
            <a:srgbClr val="121720"/>
          </a:solidFill>
          <a:ln w="12700">
            <a:solidFill>
              <a:srgbClr val="262C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11896" y="2194560"/>
            <a:ext cx="2871216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10B981"/>
                </a:solidFill>
                <a:latin typeface="Segoe UI"/>
              </a:defRPr>
            </a:pPr>
            <a:r>
              <a:t>Emergency Keyboard Hotkeys</a:t>
            </a:r>
          </a:p>
          <a:p>
            <a:pPr>
              <a:spcBef>
                <a:spcPts val="800"/>
              </a:spcBef>
              <a:defRPr sz="1000">
                <a:solidFill>
                  <a:srgbClr val="94A3B8"/>
                </a:solidFill>
                <a:latin typeface="Segoe UI"/>
              </a:defRPr>
            </a:pPr>
            <a:r>
              <a:t>• [/] : Instant jump to search box.</a:t>
            </a:r>
            <a:br/>
            <a:r>
              <a:t>• [J] / [K] : Cycle up and down through incident feed.</a:t>
            </a:r>
            <a:br/>
            <a:r>
              <a:t>• [M] : Match &amp; dispatch nearest squad to active incident.</a:t>
            </a:r>
            <a:br/>
            <a:r>
              <a:t>• [R] : Mark incident resolved and trigger 48h TTL timer.</a:t>
            </a:r>
            <a:br/>
            <a:r>
              <a:t>• [N] : Simulate incoming distress emergency call.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64008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Segoe UI"/>
              </a:defRPr>
            </a:pPr>
            <a:r>
              <a:t>07 / RESULTS &amp; IMPACT</a:t>
            </a:r>
          </a:p>
          <a:p>
            <a:pPr>
              <a:spcBef>
                <a:spcPts val="300"/>
              </a:spcBef>
              <a:defRPr sz="2200" b="1">
                <a:solidFill>
                  <a:srgbClr val="F1F5F9"/>
                </a:solidFill>
                <a:latin typeface="Segoe UI"/>
              </a:defRPr>
            </a:pPr>
            <a:r>
              <a:t>Key Advantages &amp; Conclusion</a:t>
            </a:r>
          </a:p>
          <a:p>
            <a:pPr>
              <a:spcBef>
                <a:spcPts val="200"/>
              </a:spcBef>
              <a:defRPr sz="1150">
                <a:solidFill>
                  <a:srgbClr val="94A3B8"/>
                </a:solidFill>
                <a:latin typeface="Segoe UI"/>
              </a:defRPr>
            </a:pPr>
            <a:r>
              <a:t>Why GeoPulse is faster, simpler, and more reliable than traditional dispatch systems.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65960"/>
            <a:ext cx="2423160" cy="1371600"/>
          </a:xfrm>
          <a:prstGeom prst="roundRect">
            <a:avLst/>
          </a:prstGeom>
          <a:solidFill>
            <a:srgbClr val="121720"/>
          </a:solidFill>
          <a:ln w="12700">
            <a:solidFill>
              <a:srgbClr val="262C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057400"/>
            <a:ext cx="2148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0B981"/>
                </a:solidFill>
                <a:latin typeface="Segoe UI"/>
              </a:defRPr>
            </a:pPr>
            <a:r>
              <a:t>14.2 ms</a:t>
            </a:r>
          </a:p>
          <a:p>
            <a:pPr>
              <a:spcBef>
                <a:spcPts val="200"/>
              </a:spcBef>
              <a:defRPr sz="1050" b="1">
                <a:solidFill>
                  <a:srgbClr val="F1F5F9"/>
                </a:solidFill>
                <a:latin typeface="Segoe UI"/>
              </a:defRPr>
            </a:pPr>
            <a:r>
              <a:t>Spatial Query Latency</a:t>
            </a:r>
          </a:p>
          <a:p>
            <a:pPr>
              <a:spcBef>
                <a:spcPts val="200"/>
              </a:spcBef>
              <a:defRPr sz="900">
                <a:solidFill>
                  <a:srgbClr val="94A3B8"/>
                </a:solidFill>
                <a:latin typeface="Segoe UI"/>
              </a:defRPr>
            </a:pPr>
            <a:r>
              <a:t>Sub-20ms $geoNear execution time.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83864" y="1965960"/>
            <a:ext cx="2423160" cy="1371600"/>
          </a:xfrm>
          <a:prstGeom prst="roundRect">
            <a:avLst/>
          </a:prstGeom>
          <a:solidFill>
            <a:srgbClr val="121720"/>
          </a:solidFill>
          <a:ln w="12700">
            <a:solidFill>
              <a:srgbClr val="262C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21024" y="2057400"/>
            <a:ext cx="2148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8BDF8"/>
                </a:solidFill>
                <a:latin typeface="Segoe UI"/>
              </a:defRPr>
            </a:pPr>
            <a:r>
              <a:t>84% Faster</a:t>
            </a:r>
          </a:p>
          <a:p>
            <a:pPr>
              <a:spcBef>
                <a:spcPts val="200"/>
              </a:spcBef>
              <a:defRPr sz="1050" b="1">
                <a:solidFill>
                  <a:srgbClr val="F1F5F9"/>
                </a:solidFill>
                <a:latin typeface="Segoe UI"/>
              </a:defRPr>
            </a:pPr>
            <a:r>
              <a:t>Compared to SQL GIS</a:t>
            </a:r>
          </a:p>
          <a:p>
            <a:pPr>
              <a:spcBef>
                <a:spcPts val="200"/>
              </a:spcBef>
              <a:defRPr sz="900">
                <a:solidFill>
                  <a:srgbClr val="94A3B8"/>
                </a:solidFill>
                <a:latin typeface="Segoe UI"/>
              </a:defRPr>
            </a:pPr>
            <a:r>
              <a:t>Eliminates multi-table spatial joins.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6208" y="1965960"/>
            <a:ext cx="2423160" cy="1371600"/>
          </a:xfrm>
          <a:prstGeom prst="roundRect">
            <a:avLst/>
          </a:prstGeom>
          <a:solidFill>
            <a:srgbClr val="121720"/>
          </a:solidFill>
          <a:ln w="12700">
            <a:solidFill>
              <a:srgbClr val="262C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73368" y="2057400"/>
            <a:ext cx="2148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59E0B"/>
                </a:solidFill>
                <a:latin typeface="Segoe UI"/>
              </a:defRPr>
            </a:pPr>
            <a:r>
              <a:t>48 Hours</a:t>
            </a:r>
          </a:p>
          <a:p>
            <a:pPr>
              <a:spcBef>
                <a:spcPts val="200"/>
              </a:spcBef>
              <a:defRPr sz="1050" b="1">
                <a:solidFill>
                  <a:srgbClr val="F1F5F9"/>
                </a:solidFill>
                <a:latin typeface="Segoe UI"/>
              </a:defRPr>
            </a:pPr>
            <a:r>
              <a:t>Zero Maintenance TTL</a:t>
            </a:r>
          </a:p>
          <a:p>
            <a:pPr>
              <a:spcBef>
                <a:spcPts val="200"/>
              </a:spcBef>
              <a:defRPr sz="900">
                <a:solidFill>
                  <a:srgbClr val="94A3B8"/>
                </a:solidFill>
                <a:latin typeface="Segoe UI"/>
              </a:defRPr>
            </a:pPr>
            <a:r>
              <a:t>Auto-purges resolved alerts with 0 scripts.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88552" y="1965960"/>
            <a:ext cx="2423160" cy="1371600"/>
          </a:xfrm>
          <a:prstGeom prst="roundRect">
            <a:avLst/>
          </a:prstGeom>
          <a:solidFill>
            <a:srgbClr val="121720"/>
          </a:solidFill>
          <a:ln w="12700">
            <a:solidFill>
              <a:srgbClr val="262C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25712" y="2057400"/>
            <a:ext cx="2148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0B981"/>
                </a:solidFill>
                <a:latin typeface="Segoe UI"/>
              </a:defRPr>
            </a:pPr>
            <a:r>
              <a:t>Zero Broker</a:t>
            </a:r>
          </a:p>
          <a:p>
            <a:pPr>
              <a:spcBef>
                <a:spcPts val="200"/>
              </a:spcBef>
              <a:defRPr sz="1050" b="1">
                <a:solidFill>
                  <a:srgbClr val="F1F5F9"/>
                </a:solidFill>
                <a:latin typeface="Segoe UI"/>
              </a:defRPr>
            </a:pPr>
            <a:r>
              <a:t>Simplified Stack</a:t>
            </a:r>
          </a:p>
          <a:p>
            <a:pPr>
              <a:spcBef>
                <a:spcPts val="200"/>
              </a:spcBef>
              <a:defRPr sz="900">
                <a:solidFill>
                  <a:srgbClr val="94A3B8"/>
                </a:solidFill>
                <a:latin typeface="Segoe UI"/>
              </a:defRPr>
            </a:pPr>
            <a:r>
              <a:t>No Redis or Kafka points of failure.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657600"/>
            <a:ext cx="10698480" cy="2651760"/>
          </a:xfrm>
          <a:prstGeom prst="roundRect">
            <a:avLst/>
          </a:prstGeom>
          <a:solidFill>
            <a:srgbClr val="0F171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840480"/>
            <a:ext cx="101498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0B981"/>
                </a:solidFill>
                <a:latin typeface="Segoe UI"/>
              </a:defRPr>
            </a:pPr>
            <a:r>
              <a:t>CONCLUSION &amp; REAL-WORLD IMPACT</a:t>
            </a:r>
          </a:p>
          <a:p>
            <a:pPr>
              <a:spcBef>
                <a:spcPts val="600"/>
              </a:spcBef>
              <a:defRPr sz="1100">
                <a:solidFill>
                  <a:srgbClr val="F1F5F9"/>
                </a:solidFill>
                <a:latin typeface="Segoe UI"/>
              </a:defRPr>
            </a:pPr>
            <a:r>
              <a:t>• GeoPulse proves that an effective, mission-critical disaster response system does not require over-complicated cloud infrastructure.</a:t>
            </a:r>
            <a:br/>
            <a:br/>
            <a:r>
              <a:t>• By consolidating coordinate storage, spherical proximity matching ($geoNear), and autonomous lifecycle cleanup (TTL) directly inside MongoDB, the system eliminates the 'Golden Hour' dispatch latency gap.</a:t>
            </a:r>
            <a:br/>
            <a:br/>
            <a:r>
              <a:t>• The platform is lightweight, portable, runs on standard laptop or edge hardware, and is ready for live operational deployment to help save lives when every second counts.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